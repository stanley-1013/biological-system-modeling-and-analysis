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Title. Part 2 of the term project: extend the sIC AIDS model with HIV vaccination and answer four questions — peak/decline, cost, optimum rate, vaccination vs condoms.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Motivation: HIV is a decades-long STI epidemic; intuition is unreliable, so we use a model. Four questions: peak/decline, cost, optimum rate, vaccination vs condoms — all tested against one common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 compartments: S/I/A disease states crossed with sex (f/m) and two age classes. Only age-2 transmit. Force of infection is frequency-dependent, I/(S+I); clinical-AIDS individuals are excluded from the partner pool.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Parameters from Table 15.2. Transmission is asymmetric: β male→female 0.20 vs female→male 0.075 (~2.7×), which makes female prevalence exceed male. Demography: births from age-2 females, perinatal transmission ϑ=0.35 is a route vaccination can't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Modeling judgment 1: the literal Table γ=1.16 gives R0≈0.24&lt;1, so no epidemic — contradicting Fig 15.5. I switch to γ=0.1 (mean ~10yr, in the textbook's stated range), giving R0≈2.35 and herd-immunity threshold p_c≈0.574. Stated honestly because it changes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Modeling judgment 2: literal A-only seed can't ignite because A is excluded from the force of infection, so I seed I_m2=5. Baseline then matches Fig 15.5a (female&gt;male). Condoms halve β → R0≈1.17, just above threshold; prevalence collapses in this sensitive regime.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Vaccination extension: protected compartments P_f2, P_m2; vaccinate at ν=0.65, wane at l=0.1 (S→P→S). Take-with-waning. Waning ceiling ν/(ν+l)≈0.87. Cost = $10 per vaccination event. Crucial convention: P stays in the partner-pool denominator I/(S+I+P) — that dilution is herd immunity.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Q(a): at ν=0.65 the protected fraction (0.87) exceeds p_c (0.574), so R_eff≈0.31&lt;1 and the epidemic never ignites. Incidence peaks at t=0 (seed) then declines monotonically. Baseline peaks ~791/yr at ~48 yr. Stronger than just 'peak and decline'.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Q(b): cost grows ~linearly — $114k/$162k/$247k at 20/30/50 yr. Cost per infection averted falls from $372 (20yr) to $102 (30yr) to $18 (50yr) as the baseline epidemic accelerates. $102 is within the Stover/Garnett $110-390 band. Use $/infection averted, not absolute totals.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Q(c) threshold: requiring ν/(ν+l)≥p_c gives closed-form ν_c≈0.135 (a lower bound). Direct invasion simulation gives ν_c≈0.366. ν=0.65 is above it. Measured via R_eff/invasion, not (I+A)/N, because AIDS mortality shrinks the whole population. Excluding P from the pool spuriously erases the threshold.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Q(c) cost-effective: infections averted saturate past ν_c. The knee — smallest ν capturing 99% of max aversion — is ν≈0.175, marginal ~$122 per infection. So the epidemiological optimum and the cost-effective optimum differ; ν=0.65 over-vaccinates relative to the knee but still works.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Q(d): both strategies essentially control the epidemic. Vaccination drives R_eff=0.31&lt;1 strictly; condoms put R0=1.17, just above threshold. Infections averted nearly identical (~31k each). Cost basis differs — vaccine $348k explicit, condoms unpriced (not free). Honest near-tie.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Takeaways: vaccination at ν=0.65 controls the epidemic (R_eff≈0.31), is cost-effective (~$102/infection averted at 30yr), has a finite optimum (ν_c≈0.37, knee ~0.18), and is roughly comparable to condoms but not directly cost-comparable as priced.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Limitations: γ recalibration was necessary but shifts levels; condom scenario sits near threshold (sensitive); the partner-pool convention is load-bearing; population is small/synthetic so use $/infection averted; single operating point. Conclusions are conditional on these documented assumptions.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/ Q&amp;A slide. Key constants for fielding questions: R0=2.35, p_c=0.574, waning ceiling 0.87, ν_c≈0.37, R_eff(0.65)=0.31.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9FB4CC"/>
                </a:solidFill>
                <a:latin typeface="Calibri"/>
              </a:rPr>
              <a:t>BME5113 · BIOLOGICAL SYSTEM MODELING — TERM PROJECT, 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74519"/>
            <a:ext cx="104241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FFFFFF"/>
                </a:solidFill>
                <a:latin typeface="Calibri"/>
              </a:rPr>
              <a:t>HIV Vaccination on the
sIC AIDS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703320"/>
            <a:ext cx="2194560" cy="5080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1">
                <a:solidFill>
                  <a:srgbClr val="C7D3E2"/>
                </a:solidFill>
                <a:latin typeface="Calibri"/>
              </a:rPr>
              <a:t>Does a vaccine make the epidemic decline — at what cost, and versus condoms?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21208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李傳漢  (Li Chuan-Han)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6692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9FB4CC"/>
                </a:solidFill>
                <a:latin typeface="Calibri"/>
              </a:rPr>
              <a:t>B11611027   ·   simplified Imperial College (sIC) model, Haefner (2005) Ch.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F7A8C"/>
                </a:solidFill>
                <a:latin typeface="Calibri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200" b="1" i="0">
                <a:solidFill>
                  <a:srgbClr val="14213D"/>
                </a:solidFill>
                <a:latin typeface="Calibri"/>
              </a:rPr>
              <a:t>Why model an HIV intervention?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1463040" cy="3810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1">
                <a:solidFill>
                  <a:srgbClr val="2B3A55"/>
                </a:solidFill>
                <a:latin typeface="Calibri"/>
              </a:rPr>
              <a:t>A compartment model lets us ask: does a vaccine actually turn the epidemic around — and is it worth it?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0972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1F7A8C"/>
                </a:solidFill>
                <a:latin typeface="Calibri"/>
              </a:rPr>
              <a:t>▸  </a:t>
            </a:r>
            <a:r>
              <a:rPr sz="1800">
                <a:solidFill>
                  <a:srgbClr val="1B2638"/>
                </a:solidFill>
                <a:latin typeface="Calibri"/>
              </a:rPr>
              <a:t>HIV/AIDS is a long, sexually-transmitted epidemic — interventions play out over decades, so intuition alone is unreliable.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1F7A8C"/>
                </a:solidFill>
                <a:latin typeface="Calibri"/>
              </a:rPr>
              <a:t>▸  </a:t>
            </a:r>
            <a:r>
              <a:rPr sz="1800">
                <a:solidFill>
                  <a:srgbClr val="1B2638"/>
                </a:solidFill>
                <a:latin typeface="Calibri"/>
              </a:rPr>
              <a:t>A model turns vague policy questions into quantitative ones we can test on the same baseline.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1F7A8C"/>
                </a:solidFill>
                <a:latin typeface="Calibri"/>
              </a:rPr>
              <a:t>▸  </a:t>
            </a:r>
            <a:r>
              <a:rPr sz="1800">
                <a:solidFill>
                  <a:srgbClr val="1B2638"/>
                </a:solidFill>
                <a:latin typeface="Calibri"/>
              </a:rPr>
              <a:t>Four concrete questions drive Part 2: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1F7A8C"/>
                </a:solidFill>
                <a:latin typeface="Calibri"/>
              </a:rPr>
              <a:t>–  </a:t>
            </a:r>
            <a:r>
              <a:rPr sz="1700">
                <a:solidFill>
                  <a:srgbClr val="1B2638"/>
                </a:solidFill>
                <a:latin typeface="Calibri"/>
              </a:rPr>
              <a:t>(a) does vaccination make the epidemic peak and decline?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1F7A8C"/>
                </a:solidFill>
                <a:latin typeface="Calibri"/>
              </a:rPr>
              <a:t>–  </a:t>
            </a:r>
            <a:r>
              <a:rPr sz="1700">
                <a:solidFill>
                  <a:srgbClr val="1B2638"/>
                </a:solidFill>
                <a:latin typeface="Calibri"/>
              </a:rPr>
              <a:t>(b) what does it cost per infection averted?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1F7A8C"/>
                </a:solidFill>
                <a:latin typeface="Calibri"/>
              </a:rPr>
              <a:t>–  </a:t>
            </a:r>
            <a:r>
              <a:rPr sz="1700">
                <a:solidFill>
                  <a:srgbClr val="1B2638"/>
                </a:solidFill>
                <a:latin typeface="Calibri"/>
              </a:rPr>
              <a:t>(c) what is the optimum vaccination rate?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2E8B57"/>
                </a:solidFill>
                <a:latin typeface="Calibri"/>
              </a:rPr>
              <a:t>–  </a:t>
            </a:r>
            <a:r>
              <a:rPr sz="1700">
                <a:solidFill>
                  <a:srgbClr val="1B2638"/>
                </a:solidFill>
                <a:latin typeface="Calibri"/>
              </a:rPr>
              <a:t>(d) how does vaccination compare with condom promotion?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F7A8C"/>
                </a:solidFill>
                <a:latin typeface="Calibri"/>
              </a:rPr>
              <a:t>THE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200" b="1" i="0">
                <a:solidFill>
                  <a:srgbClr val="14213D"/>
                </a:solidFill>
                <a:latin typeface="Calibri"/>
              </a:rPr>
              <a:t>The sIC model: 12 compartments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1463040" cy="3810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1">
                <a:solidFill>
                  <a:srgbClr val="2B3A55"/>
                </a:solidFill>
                <a:latin typeface="Calibri"/>
              </a:rPr>
              <a:t>Three disease states × two sexes × two age classes; transmission is frequency-dependent on I/(S+I).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01952" y="2020824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B7688"/>
                </a:solidFill>
                <a:latin typeface="Calibri"/>
              </a:rPr>
              <a:t>age 1 (0–15, pre-sexual)     age 2 (16+, sexually active)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2331720"/>
            <a:ext cx="10515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B2638"/>
                </a:solidFill>
                <a:latin typeface="Calibri"/>
              </a:rPr>
              <a:t>Female 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01952" y="2331720"/>
            <a:ext cx="1051560" cy="566928"/>
          </a:xfrm>
          <a:prstGeom prst="roundRect">
            <a:avLst/>
          </a:prstGeom>
          <a:solidFill>
            <a:srgbClr val="8A94A6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Sf,1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18104" y="2331720"/>
            <a:ext cx="1051560" cy="566928"/>
          </a:xfrm>
          <a:prstGeom prst="roundRect">
            <a:avLst/>
          </a:prstGeom>
          <a:solidFill>
            <a:srgbClr val="8A94A6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Sf,2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944368"/>
            <a:ext cx="10515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B2638"/>
                </a:solidFill>
                <a:latin typeface="Calibri"/>
              </a:rPr>
              <a:t>Female 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01952" y="2944368"/>
            <a:ext cx="1051560" cy="566928"/>
          </a:xfrm>
          <a:prstGeom prst="roundRect">
            <a:avLst/>
          </a:prstGeom>
          <a:solidFill>
            <a:srgbClr val="1F7A8C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If,1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4" y="2944368"/>
            <a:ext cx="1051560" cy="566928"/>
          </a:xfrm>
          <a:prstGeom prst="roundRect">
            <a:avLst/>
          </a:prstGeom>
          <a:solidFill>
            <a:srgbClr val="1F7A8C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If,2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3557016"/>
            <a:ext cx="10515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B2638"/>
                </a:solidFill>
                <a:latin typeface="Calibri"/>
              </a:rPr>
              <a:t>Female 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901952" y="3557016"/>
            <a:ext cx="1051560" cy="566928"/>
          </a:xfrm>
          <a:prstGeom prst="roundRect">
            <a:avLst/>
          </a:prstGeom>
          <a:solidFill>
            <a:srgbClr val="2B3A55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Af,1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18104" y="3557016"/>
            <a:ext cx="1051560" cy="566928"/>
          </a:xfrm>
          <a:prstGeom prst="roundRect">
            <a:avLst/>
          </a:prstGeom>
          <a:solidFill>
            <a:srgbClr val="2B3A55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Af,2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4306824"/>
            <a:ext cx="10515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B2638"/>
                </a:solidFill>
                <a:latin typeface="Calibri"/>
              </a:rPr>
              <a:t>Male 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901952" y="4306824"/>
            <a:ext cx="1051560" cy="566928"/>
          </a:xfrm>
          <a:prstGeom prst="roundRect">
            <a:avLst/>
          </a:prstGeom>
          <a:solidFill>
            <a:srgbClr val="8A94A6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Sm,1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18104" y="4306824"/>
            <a:ext cx="1051560" cy="566928"/>
          </a:xfrm>
          <a:prstGeom prst="roundRect">
            <a:avLst/>
          </a:prstGeom>
          <a:solidFill>
            <a:srgbClr val="8A94A6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Sm,2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" y="4919472"/>
            <a:ext cx="10515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B2638"/>
                </a:solidFill>
                <a:latin typeface="Calibri"/>
              </a:rPr>
              <a:t>Male 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01952" y="4919472"/>
            <a:ext cx="1051560" cy="566928"/>
          </a:xfrm>
          <a:prstGeom prst="roundRect">
            <a:avLst/>
          </a:prstGeom>
          <a:solidFill>
            <a:srgbClr val="1F7A8C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Im,1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18104" y="4919472"/>
            <a:ext cx="1051560" cy="566928"/>
          </a:xfrm>
          <a:prstGeom prst="roundRect">
            <a:avLst/>
          </a:prstGeom>
          <a:solidFill>
            <a:srgbClr val="1F7A8C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Im,2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5532120"/>
            <a:ext cx="10515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B2638"/>
                </a:solidFill>
                <a:latin typeface="Calibri"/>
              </a:rPr>
              <a:t>Male 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901952" y="5532120"/>
            <a:ext cx="1051560" cy="566928"/>
          </a:xfrm>
          <a:prstGeom prst="roundRect">
            <a:avLst/>
          </a:prstGeom>
          <a:solidFill>
            <a:srgbClr val="2B3A55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Am,1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118104" y="5532120"/>
            <a:ext cx="1051560" cy="566928"/>
          </a:xfrm>
          <a:prstGeom prst="roundRect">
            <a:avLst/>
          </a:prstGeom>
          <a:solidFill>
            <a:srgbClr val="2B3A55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Am,2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2286000"/>
            <a:ext cx="65836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1F7A8C"/>
                </a:solidFill>
                <a:latin typeface="Calibri"/>
              </a:rPr>
              <a:t>▸  </a:t>
            </a:r>
            <a:r>
              <a:rPr sz="1500">
                <a:solidFill>
                  <a:srgbClr val="1B2638"/>
                </a:solidFill>
                <a:latin typeface="Calibri"/>
              </a:rPr>
              <a:t>S → I → A: susceptible, HIV+ (pre-AIDS), clinical AIDS.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1F7A8C"/>
                </a:solidFill>
                <a:latin typeface="Calibri"/>
              </a:rPr>
              <a:t>▸  </a:t>
            </a:r>
            <a:r>
              <a:rPr sz="1500">
                <a:solidFill>
                  <a:srgbClr val="1B2638"/>
                </a:solidFill>
                <a:latin typeface="Calibri"/>
              </a:rPr>
              <a:t>Only age-2 (16+) individuals transmit.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1F7A8C"/>
                </a:solidFill>
                <a:latin typeface="Calibri"/>
              </a:rPr>
              <a:t>▸  </a:t>
            </a:r>
            <a:r>
              <a:rPr sz="1500">
                <a:solidFill>
                  <a:srgbClr val="1B2638"/>
                </a:solidFill>
                <a:latin typeface="Calibri"/>
              </a:rPr>
              <a:t>Forrester-style flow model: births, ageing (ξ), progression (γ), AIDS death (α).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1F7A8C"/>
                </a:solidFill>
                <a:latin typeface="Calibri"/>
              </a:rPr>
              <a:t>▸  </a:t>
            </a:r>
            <a:r>
              <a:rPr sz="1500">
                <a:solidFill>
                  <a:srgbClr val="1B2638"/>
                </a:solidFill>
                <a:latin typeface="Calibri"/>
              </a:rPr>
              <a:t>Frequency-dependent force of infection λ ∝ I/(S+I): what matters is the fraction of partners infectious — A excluded (not sexually active).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F7A8C"/>
                </a:solidFill>
                <a:latin typeface="Calibri"/>
              </a:rPr>
              <a:t>PARAMETERS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200" b="1" i="0">
                <a:solidFill>
                  <a:srgbClr val="14213D"/>
                </a:solidFill>
                <a:latin typeface="Calibri"/>
              </a:rPr>
              <a:t>Key parameters (Table 15.2) &amp; demography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1463040" cy="3810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1">
                <a:solidFill>
                  <a:srgbClr val="2B3A55"/>
                </a:solidFill>
                <a:latin typeface="Calibri"/>
              </a:rPr>
              <a:t>Asymmetric transmission (male→female 2.7× higher) is why women reach higher prevalence than men.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331720"/>
          <a:ext cx="640080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657600"/>
                <a:gridCol w="1371600"/>
              </a:tblGrid>
              <a:tr h="416559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Symbol</a:t>
                      </a:r>
                    </a:p>
                  </a:txBody>
                  <a:tcPr marL="76200" marR="76200" marT="25400" marB="25400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marL="76200" marR="76200" marT="25400" marB="25400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76200" marR="76200" marT="25400" marB="25400" anchor="ctr">
                    <a:solidFill>
                      <a:srgbClr val="14213D"/>
                    </a:solidFill>
                  </a:tcPr>
                </a:tc>
              </a:tr>
              <a:tr h="416559"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1B2638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1B2638"/>
                          </a:solidFill>
                          <a:latin typeface="Calibri"/>
                        </a:rPr>
                        <a:t>new-partner acquisition rate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1B2638"/>
                          </a:solidFill>
                          <a:latin typeface="Calibri"/>
                        </a:rPr>
                        <a:t>2.35 / yr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16559"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1B2638"/>
                          </a:solidFill>
                          <a:latin typeface="Calibri"/>
                        </a:rPr>
                        <a:t>β(m→f)</a:t>
                      </a:r>
                    </a:p>
                  </a:txBody>
                  <a:tcPr marL="76200" marR="76200" marT="25400" marB="25400" anchor="ctr">
                    <a:solidFill>
                      <a:srgbClr val="ECEF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1B2638"/>
                          </a:solidFill>
                          <a:latin typeface="Calibri"/>
                        </a:rPr>
                        <a:t>male→female transmission prob.</a:t>
                      </a:r>
                    </a:p>
                  </a:txBody>
                  <a:tcPr marL="76200" marR="76200" marT="25400" marB="25400" anchor="ctr">
                    <a:solidFill>
                      <a:srgbClr val="ECEF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1B2638"/>
                          </a:solidFill>
                          <a:latin typeface="Calibri"/>
                        </a:rPr>
                        <a:t>0.20</a:t>
                      </a:r>
                    </a:p>
                  </a:txBody>
                  <a:tcPr marL="76200" marR="76200" marT="25400" marB="25400" anchor="ctr">
                    <a:solidFill>
                      <a:srgbClr val="ECEFF4"/>
                    </a:solidFill>
                  </a:tcPr>
                </a:tc>
              </a:tr>
              <a:tr h="416559"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1B2638"/>
                          </a:solidFill>
                          <a:latin typeface="Calibri"/>
                        </a:rPr>
                        <a:t>β(f→m)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1B2638"/>
                          </a:solidFill>
                          <a:latin typeface="Calibri"/>
                        </a:rPr>
                        <a:t>female→male transmission prob.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1B2638"/>
                          </a:solidFill>
                          <a:latin typeface="Calibri"/>
                        </a:rPr>
                        <a:t>0.075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16559"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1B2638"/>
                          </a:solidFill>
                          <a:latin typeface="Calibri"/>
                        </a:rPr>
                        <a:t>μ</a:t>
                      </a:r>
                    </a:p>
                  </a:txBody>
                  <a:tcPr marL="76200" marR="76200" marT="25400" marB="25400" anchor="ctr">
                    <a:solidFill>
                      <a:srgbClr val="ECEF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1B2638"/>
                          </a:solidFill>
                          <a:latin typeface="Calibri"/>
                        </a:rPr>
                        <a:t>natural death rate</a:t>
                      </a:r>
                    </a:p>
                  </a:txBody>
                  <a:tcPr marL="76200" marR="76200" marT="25400" marB="25400" anchor="ctr">
                    <a:solidFill>
                      <a:srgbClr val="ECEF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1B2638"/>
                          </a:solidFill>
                          <a:latin typeface="Calibri"/>
                        </a:rPr>
                        <a:t>0.0227 / yr</a:t>
                      </a:r>
                    </a:p>
                  </a:txBody>
                  <a:tcPr marL="76200" marR="76200" marT="25400" marB="25400" anchor="ctr">
                    <a:solidFill>
                      <a:srgbClr val="ECEFF4"/>
                    </a:solidFill>
                  </a:tcPr>
                </a:tc>
              </a:tr>
              <a:tr h="416559"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1B2638"/>
                          </a:solidFill>
                          <a:latin typeface="Calibri"/>
                        </a:rPr>
                        <a:t>α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1B2638"/>
                          </a:solidFill>
                          <a:latin typeface="Calibri"/>
                        </a:rPr>
                        <a:t>extra AIDS death rate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1B2638"/>
                          </a:solidFill>
                          <a:latin typeface="Calibri"/>
                        </a:rPr>
                        <a:t>1.0 / yr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16559"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1B2638"/>
                          </a:solidFill>
                          <a:latin typeface="Calibri"/>
                        </a:rPr>
                        <a:t>ξ</a:t>
                      </a:r>
                    </a:p>
                  </a:txBody>
                  <a:tcPr marL="76200" marR="76200" marT="25400" marB="25400" anchor="ctr">
                    <a:solidFill>
                      <a:srgbClr val="ECEF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1B2638"/>
                          </a:solidFill>
                          <a:latin typeface="Calibri"/>
                        </a:rPr>
                        <a:t>ageing rate (age1→age2)</a:t>
                      </a:r>
                    </a:p>
                  </a:txBody>
                  <a:tcPr marL="76200" marR="76200" marT="25400" marB="25400" anchor="ctr">
                    <a:solidFill>
                      <a:srgbClr val="ECEF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1B2638"/>
                          </a:solidFill>
                          <a:latin typeface="Calibri"/>
                        </a:rPr>
                        <a:t>0.0667 / yr</a:t>
                      </a:r>
                    </a:p>
                  </a:txBody>
                  <a:tcPr marL="76200" marR="76200" marT="25400" marB="25400" anchor="ctr">
                    <a:solidFill>
                      <a:srgbClr val="ECEFF4"/>
                    </a:solidFill>
                  </a:tcPr>
                </a:tc>
              </a:tr>
              <a:tr h="416559"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1B2638"/>
                          </a:solidFill>
                          <a:latin typeface="Calibri"/>
                        </a:rPr>
                        <a:t>ϑ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1B2638"/>
                          </a:solidFill>
                          <a:latin typeface="Calibri"/>
                        </a:rPr>
                        <a:t>perinatal transmission prob.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1B2638"/>
                          </a:solidFill>
                          <a:latin typeface="Calibri"/>
                        </a:rPr>
                        <a:t>0.35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16567"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1B2638"/>
                          </a:solidFill>
                          <a:latin typeface="Calibri"/>
                        </a:rPr>
                        <a:t>θ</a:t>
                      </a:r>
                    </a:p>
                  </a:txBody>
                  <a:tcPr marL="76200" marR="76200" marT="25400" marB="25400" anchor="ctr">
                    <a:solidFill>
                      <a:srgbClr val="ECEF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1B2638"/>
                          </a:solidFill>
                          <a:latin typeface="Calibri"/>
                        </a:rPr>
                        <a:t>female fecundity</a:t>
                      </a:r>
                    </a:p>
                  </a:txBody>
                  <a:tcPr marL="76200" marR="76200" marT="25400" marB="25400" anchor="ctr">
                    <a:solidFill>
                      <a:srgbClr val="ECEF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1B2638"/>
                          </a:solidFill>
                          <a:latin typeface="Calibri"/>
                        </a:rPr>
                        <a:t>0.2088 / yr</a:t>
                      </a:r>
                    </a:p>
                  </a:txBody>
                  <a:tcPr marL="76200" marR="76200" marT="25400" marB="25400" anchor="ctr">
                    <a:solidFill>
                      <a:srgbClr val="ECEFF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2377440"/>
            <a:ext cx="42062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1F7A8C"/>
                </a:solidFill>
                <a:latin typeface="Calibri"/>
              </a:rPr>
              <a:t>▸  </a:t>
            </a:r>
            <a:r>
              <a:rPr sz="1500">
                <a:solidFill>
                  <a:srgbClr val="1B2638"/>
                </a:solidFill>
                <a:latin typeface="Calibri"/>
              </a:rPr>
              <a:t>Demography matters: births come only from age-2 females; high fertility grows the population early on.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1F7A8C"/>
                </a:solidFill>
                <a:latin typeface="Calibri"/>
              </a:rPr>
              <a:t>▸  </a:t>
            </a:r>
            <a:r>
              <a:rPr sz="1500">
                <a:solidFill>
                  <a:srgbClr val="1B2638"/>
                </a:solidFill>
                <a:latin typeface="Calibri"/>
              </a:rPr>
              <a:t>Perinatal route (ϑ = 0.35): infected mothers can bear infected newborns — a route a vaccine does NOT block.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1F7A8C"/>
                </a:solidFill>
                <a:latin typeface="Calibri"/>
              </a:rPr>
              <a:t>▸  </a:t>
            </a:r>
            <a:r>
              <a:rPr sz="1500">
                <a:solidFill>
                  <a:srgbClr val="1B2638"/>
                </a:solidFill>
                <a:latin typeface="Calibri"/>
              </a:rPr>
              <a:t>Initial pop. N(0) = 8005 (S split 3000/1000 per sex×age).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F7A8C"/>
                </a:solidFill>
                <a:latin typeface="Calibri"/>
              </a:rPr>
              <a:t>MODELING JUDGMENT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200" b="1" i="0">
                <a:solidFill>
                  <a:srgbClr val="14213D"/>
                </a:solidFill>
                <a:latin typeface="Calibri"/>
              </a:rPr>
              <a:t>γ recalibration: making the epidemic ignite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1463040" cy="3810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1">
                <a:solidFill>
                  <a:srgbClr val="2B3A55"/>
                </a:solidFill>
                <a:latin typeface="Calibri"/>
              </a:rPr>
              <a:t>Table γ = 1.16 gives R₀ &lt; 1 (no epidemic). I use the biologically grounded γ = 0.1 → R₀ ≈ 2.35.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0280"/>
            <a:ext cx="56692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50" b="1">
                <a:solidFill>
                  <a:srgbClr val="1F7A8C"/>
                </a:solidFill>
                <a:latin typeface="Calibri"/>
              </a:rPr>
              <a:t>▸  </a:t>
            </a:r>
            <a:r>
              <a:rPr sz="1550">
                <a:solidFill>
                  <a:srgbClr val="1B2638"/>
                </a:solidFill>
                <a:latin typeface="Calibri"/>
              </a:rPr>
              <a:t>R₀ = c·√(β_mf·β_fm)/(μ+γ).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50" b="1">
                <a:solidFill>
                  <a:srgbClr val="8A94A6"/>
                </a:solidFill>
                <a:latin typeface="Calibri"/>
              </a:rPr>
              <a:t>▸  </a:t>
            </a:r>
            <a:r>
              <a:rPr sz="1550">
                <a:solidFill>
                  <a:srgbClr val="1B2638"/>
                </a:solidFill>
                <a:latin typeface="Calibri"/>
              </a:rPr>
              <a:t>Table value γ = 1.16/yr ⇒ mean HIV→AIDS ≈ 0.85 yr (&lt; 1 yr) and R₀ ≈ 0.24 &lt; 1 — the seeded infection dies out.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50" b="1">
                <a:solidFill>
                  <a:srgbClr val="8A94A6"/>
                </a:solidFill>
                <a:latin typeface="Calibri"/>
              </a:rPr>
              <a:t>▸  </a:t>
            </a:r>
            <a:r>
              <a:rPr sz="1550">
                <a:solidFill>
                  <a:srgbClr val="1B2638"/>
                </a:solidFill>
                <a:latin typeface="Calibri"/>
              </a:rPr>
              <a:t>That contradicts the textbook's own Fig. 15.5 (HIV persists) and its stated 1–10 yr progression.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50" b="1">
                <a:solidFill>
                  <a:srgbClr val="1F7A8C"/>
                </a:solidFill>
                <a:latin typeface="Calibri"/>
              </a:rPr>
              <a:t>▸  </a:t>
            </a:r>
            <a:r>
              <a:rPr sz="1550">
                <a:solidFill>
                  <a:srgbClr val="1B2638"/>
                </a:solidFill>
                <a:latin typeface="Calibri"/>
              </a:rPr>
              <a:t>I adopt γ = 0.1/yr ⇒ mean infectious ≈ 8.1 yr (in range), R₀ ≈ 2.35 &gt; 1.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50" b="1">
                <a:solidFill>
                  <a:srgbClr val="1F7A8C"/>
                </a:solidFill>
                <a:latin typeface="Calibri"/>
              </a:rPr>
              <a:t>▸  </a:t>
            </a:r>
            <a:r>
              <a:rPr sz="1550">
                <a:solidFill>
                  <a:srgbClr val="1B2638"/>
                </a:solidFill>
                <a:latin typeface="Calibri"/>
              </a:rPr>
              <a:t>Herd-immunity threshold: p_c = 1 − 1/R₀ ≈ 0.574.</a:t>
            </a:r>
          </a:p>
        </p:txBody>
      </p:sp>
      <p:pic>
        <p:nvPicPr>
          <p:cNvPr id="7" name="Picture 6" descr="verify_baseline_preval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414626"/>
            <a:ext cx="5394960" cy="33089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98932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6B7688"/>
                </a:solidFill>
                <a:latin typeface="Calibri"/>
              </a:rPr>
              <a:t>Baseline (γ = 0.1): HIV persists; female &gt; male prevalence.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F7A8C"/>
                </a:solidFill>
                <a:latin typeface="Calibri"/>
              </a:rPr>
              <a:t>MODELING JUDGMENT 2 +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200" b="1" i="0">
                <a:solidFill>
                  <a:srgbClr val="14213D"/>
                </a:solidFill>
                <a:latin typeface="Calibri"/>
              </a:rPr>
              <a:t>Seed in I, not A — then validate vs Fig. 15.5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1463040" cy="3810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1">
                <a:solidFill>
                  <a:srgbClr val="2B3A55"/>
                </a:solidFill>
                <a:latin typeface="Calibri"/>
              </a:rPr>
              <a:t>Seeding AIDS males can't transmit (A excluded); seeding infectious males reproduces the endemic epidemic.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0280"/>
            <a:ext cx="57607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8A94A6"/>
                </a:solidFill>
                <a:latin typeface="Calibri"/>
              </a:rPr>
              <a:t>▸  </a:t>
            </a:r>
            <a:r>
              <a:rPr sz="1500">
                <a:solidFill>
                  <a:srgbClr val="1B2638"/>
                </a:solidFill>
                <a:latin typeface="Calibri"/>
              </a:rPr>
              <a:t>Table seeds A_{m2}=5, but A is excluded from λ — those males die without infecting anyone (incidence exactly 0).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1F7A8C"/>
                </a:solidFill>
                <a:latin typeface="Calibri"/>
              </a:rPr>
              <a:t>▸  </a:t>
            </a:r>
            <a:r>
              <a:rPr sz="1500">
                <a:solidFill>
                  <a:srgbClr val="1B2638"/>
                </a:solidFill>
                <a:latin typeface="Calibri"/>
              </a:rPr>
              <a:t>Smallest fix: seed I_{m2}=5 (infectious males) instead.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1F7A8C"/>
                </a:solidFill>
                <a:latin typeface="Calibri"/>
              </a:rPr>
              <a:t>▸  </a:t>
            </a:r>
            <a:r>
              <a:rPr sz="1500">
                <a:solidFill>
                  <a:srgbClr val="1B2638"/>
                </a:solidFill>
                <a:latin typeface="Calibri"/>
              </a:rPr>
              <a:t>Baseline then reproduces Fig 15.5a: female ≈ 0.77, male ≈ 0.61 prevalence.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2E8B57"/>
                </a:solidFill>
                <a:latin typeface="Calibri"/>
              </a:rPr>
              <a:t>▸  </a:t>
            </a:r>
            <a:r>
              <a:rPr sz="1500">
                <a:solidFill>
                  <a:srgbClr val="1B2638"/>
                </a:solidFill>
                <a:latin typeface="Calibri"/>
              </a:rPr>
              <a:t>Condom scenario (halve both β): R₀ → 1.17, just above threshold — prevalence collapses (near-threshold sensitivity).</a:t>
            </a:r>
          </a:p>
        </p:txBody>
      </p:sp>
      <p:pic>
        <p:nvPicPr>
          <p:cNvPr id="7" name="Picture 6" descr="verify_condom_preval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442667"/>
            <a:ext cx="5303520" cy="32528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92240" y="598932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6B7688"/>
                </a:solidFill>
                <a:latin typeface="Calibri"/>
              </a:rPr>
              <a:t>Condom scenario: R₀ ≈ 1.17, prevalence near-threshold sensitive.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F7A8C"/>
                </a:solidFill>
                <a:latin typeface="Calibri"/>
              </a:rPr>
              <a:t>THE EXTENSION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200" b="1" i="0">
                <a:solidFill>
                  <a:srgbClr val="14213D"/>
                </a:solidFill>
                <a:latin typeface="Calibri"/>
              </a:rPr>
              <a:t>Adding vaccination: P compartments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1463040" cy="3810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1">
                <a:solidFill>
                  <a:srgbClr val="2B3A55"/>
                </a:solidFill>
                <a:latin typeface="Calibri"/>
              </a:rPr>
              <a:t>Take-with-waning vaccine; protected stay in the partner pool → genuine herd immunity.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0280"/>
            <a:ext cx="11064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1F7A8C"/>
                </a:solidFill>
                <a:latin typeface="Calibri"/>
              </a:rPr>
              <a:t>▸  </a:t>
            </a:r>
            <a:r>
              <a:rPr sz="1600">
                <a:solidFill>
                  <a:srgbClr val="1B2638"/>
                </a:solidFill>
                <a:latin typeface="Calibri"/>
              </a:rPr>
              <a:t>Two protected compartments P_{f2}, P_{m2} (age-2 only).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1F7A8C"/>
                </a:solidFill>
                <a:latin typeface="Calibri"/>
              </a:rPr>
              <a:t>▸  </a:t>
            </a:r>
            <a:r>
              <a:rPr sz="1600">
                <a:solidFill>
                  <a:srgbClr val="1B2638"/>
                </a:solidFill>
                <a:latin typeface="Calibri"/>
              </a:rPr>
              <a:t>Vaccinate at ν = 0.65/yr; protection wanes back to S at l = 0.1/yr (S → P → S).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1F7A8C"/>
                </a:solidFill>
                <a:latin typeface="Calibri"/>
              </a:rPr>
              <a:t>▸  </a:t>
            </a:r>
            <a:r>
              <a:rPr sz="1600">
                <a:solidFill>
                  <a:srgbClr val="1B2638"/>
                </a:solidFill>
                <a:latin typeface="Calibri"/>
              </a:rPr>
              <a:t>Take (all-or-nothing) vaccine: in P, no force of infection acts.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1F7A8C"/>
                </a:solidFill>
                <a:latin typeface="Calibri"/>
              </a:rPr>
              <a:t>▸  </a:t>
            </a:r>
            <a:r>
              <a:rPr sz="1600">
                <a:solidFill>
                  <a:srgbClr val="1B2638"/>
                </a:solidFill>
                <a:latin typeface="Calibri"/>
              </a:rPr>
              <a:t>Waning ceiling: P/(S+P) → ν/(ν+l) = 0.65/0.75 ≈ 0.87 — at most ~87% protected at any instant.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1F7A8C"/>
                </a:solidFill>
                <a:latin typeface="Calibri"/>
              </a:rPr>
              <a:t>▸  </a:t>
            </a:r>
            <a:r>
              <a:rPr sz="1600">
                <a:solidFill>
                  <a:srgbClr val="1B2638"/>
                </a:solidFill>
                <a:latin typeface="Calibri"/>
              </a:rPr>
              <a:t>Cost accumulator: dV/dt = ν(S_{f2}+S_{m2}), cost = $10 × V.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2E8B57"/>
                </a:solidFill>
                <a:latin typeface="Calibri"/>
              </a:rPr>
              <a:t>▸  </a:t>
            </a:r>
            <a:r>
              <a:rPr sz="1600">
                <a:solidFill>
                  <a:srgbClr val="1B2638"/>
                </a:solidFill>
                <a:latin typeface="Calibri"/>
              </a:rPr>
              <a:t>Key convention: protected people are uninfected but still partners, so they stay in the denominator λ ∝ I/(S+I+P) — this dilution IS herd immunity.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F7A8C"/>
                </a:solidFill>
                <a:latin typeface="Calibri"/>
              </a:rPr>
              <a:t>Q(A) — PEAK &amp; DECLINE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200" b="1" i="0">
                <a:solidFill>
                  <a:srgbClr val="14213D"/>
                </a:solidFill>
                <a:latin typeface="Calibri"/>
              </a:rPr>
              <a:t>Vaccination: the epidemic never ignites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1463040" cy="3810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1">
                <a:solidFill>
                  <a:srgbClr val="2B3A55"/>
                </a:solidFill>
                <a:latin typeface="Calibri"/>
              </a:rPr>
              <a:t>R_eff ≈ 0.31 &lt; 1 — incidence falls monotonically from the seed; the baseline peaks at ~791/yr near year 48.</a:t>
            </a:r>
          </a:p>
        </p:txBody>
      </p:sp>
      <p:pic>
        <p:nvPicPr>
          <p:cNvPr id="6" name="Picture 5" descr="qa_inci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40280"/>
            <a:ext cx="6505858" cy="4023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263640"/>
            <a:ext cx="7040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6B7688"/>
                </a:solidFill>
                <a:latin typeface="Calibri"/>
              </a:rPr>
              <a:t>Incidence: vaccine vs baseline.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2331720"/>
            <a:ext cx="3931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1F7A8C"/>
                </a:solidFill>
                <a:latin typeface="Calibri"/>
              </a:rPr>
              <a:t>▸  </a:t>
            </a:r>
            <a:r>
              <a:rPr sz="1500">
                <a:solidFill>
                  <a:srgbClr val="1B2638"/>
                </a:solidFill>
                <a:latin typeface="Calibri"/>
              </a:rPr>
              <a:t>R_eff ≈ R₀(1 − 0.867) ≈ 0.31 &lt; 1.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1F7A8C"/>
                </a:solidFill>
                <a:latin typeface="Calibri"/>
              </a:rPr>
              <a:t>▸  </a:t>
            </a:r>
            <a:r>
              <a:rPr sz="1500">
                <a:solidFill>
                  <a:srgbClr val="1B2638"/>
                </a:solidFill>
                <a:latin typeface="Calibri"/>
              </a:rPr>
              <a:t>Vaccine incidence is highest at t=0 (the 5 seed males), then declines to ~0.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8A94A6"/>
                </a:solidFill>
                <a:latin typeface="Calibri"/>
              </a:rPr>
              <a:t>▸  </a:t>
            </a:r>
            <a:r>
              <a:rPr sz="1500">
                <a:solidFill>
                  <a:srgbClr val="1B2638"/>
                </a:solidFill>
                <a:latin typeface="Calibri"/>
              </a:rPr>
              <a:t>Baseline: peak 791 new/yr @ 47.8 yr, stays high.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1F7A8C"/>
                </a:solidFill>
                <a:latin typeface="Calibri"/>
              </a:rPr>
              <a:t>▸  </a:t>
            </a:r>
            <a:r>
              <a:rPr sz="1500">
                <a:solidFill>
                  <a:srgbClr val="1B2638"/>
                </a:solidFill>
                <a:latin typeface="Calibri"/>
              </a:rPr>
              <a:t>Protected fraction saturates ≈ 0.85 (just below 0.867 ceiling).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F7A8C"/>
                </a:solidFill>
                <a:latin typeface="Calibri"/>
              </a:rPr>
              <a:t>Q(B) —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200" b="1" i="0">
                <a:solidFill>
                  <a:srgbClr val="14213D"/>
                </a:solidFill>
                <a:latin typeface="Calibri"/>
              </a:rPr>
              <a:t>Cost-effectiveness improves sharply over time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1463040" cy="3810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1">
                <a:solidFill>
                  <a:srgbClr val="2B3A55"/>
                </a:solidFill>
                <a:latin typeface="Calibri"/>
              </a:rPr>
              <a:t>~$162k at 30 yr ≈ $102 per infection averted — within the published Garnett/Stover range.</a:t>
            </a:r>
          </a:p>
        </p:txBody>
      </p:sp>
      <p:pic>
        <p:nvPicPr>
          <p:cNvPr id="6" name="Picture 5" descr="qb_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94560"/>
            <a:ext cx="4337221" cy="41148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52160" y="2468880"/>
          <a:ext cx="57607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920240"/>
                <a:gridCol w="210312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Horizon</a:t>
                      </a:r>
                    </a:p>
                  </a:txBody>
                  <a:tcPr anchor="ctr" marL="76200" marT="25400" marB="25400">
                    <a:solidFill>
                      <a:srgbClr val="1F7A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Cost</a:t>
                      </a:r>
                    </a:p>
                  </a:txBody>
                  <a:tcPr anchor="ctr" marL="76200" marT="25400" marB="25400">
                    <a:solidFill>
                      <a:srgbClr val="1F7A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$/infection averted</a:t>
                      </a:r>
                    </a:p>
                  </a:txBody>
                  <a:tcPr anchor="ctr" marL="76200" marT="25400" marB="25400">
                    <a:solidFill>
                      <a:srgbClr val="1F7A8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B2638"/>
                          </a:solidFill>
                          <a:latin typeface="Calibri"/>
                        </a:rPr>
                        <a:t>20 yr</a:t>
                      </a:r>
                    </a:p>
                  </a:txBody>
                  <a:tcPr anchor="ctr" marL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B2638"/>
                          </a:solidFill>
                          <a:latin typeface="Calibri"/>
                        </a:rPr>
                        <a:t>$113,738</a:t>
                      </a:r>
                    </a:p>
                  </a:txBody>
                  <a:tcPr anchor="ctr" marL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B2638"/>
                          </a:solidFill>
                          <a:latin typeface="Calibri"/>
                        </a:rPr>
                        <a:t>$372</a:t>
                      </a:r>
                    </a:p>
                  </a:txBody>
                  <a:tcPr anchor="ctr" marL="76200" marT="25400" marB="254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B2638"/>
                          </a:solidFill>
                          <a:latin typeface="Calibri"/>
                        </a:rPr>
                        <a:t>30 yr</a:t>
                      </a:r>
                    </a:p>
                  </a:txBody>
                  <a:tcPr anchor="ctr" marL="76200" marT="25400" marB="25400">
                    <a:solidFill>
                      <a:srgbClr val="ECEF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B2638"/>
                          </a:solidFill>
                          <a:latin typeface="Calibri"/>
                        </a:rPr>
                        <a:t>$162,165</a:t>
                      </a:r>
                    </a:p>
                  </a:txBody>
                  <a:tcPr anchor="ctr" marL="76200" marT="25400" marB="25400">
                    <a:solidFill>
                      <a:srgbClr val="ECEF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B2638"/>
                          </a:solidFill>
                          <a:latin typeface="Calibri"/>
                        </a:rPr>
                        <a:t>$102</a:t>
                      </a:r>
                    </a:p>
                  </a:txBody>
                  <a:tcPr anchor="ctr" marL="76200" marT="25400" marB="25400">
                    <a:solidFill>
                      <a:srgbClr val="ECEF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B2638"/>
                          </a:solidFill>
                          <a:latin typeface="Calibri"/>
                        </a:rPr>
                        <a:t>50 yr</a:t>
                      </a:r>
                    </a:p>
                  </a:txBody>
                  <a:tcPr anchor="ctr" marL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B2638"/>
                          </a:solidFill>
                          <a:latin typeface="Calibri"/>
                        </a:rPr>
                        <a:t>$247,461</a:t>
                      </a:r>
                    </a:p>
                  </a:txBody>
                  <a:tcPr anchor="ctr" marL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B2638"/>
                          </a:solidFill>
                          <a:latin typeface="Calibri"/>
                        </a:rPr>
                        <a:t>$18</a:t>
                      </a:r>
                    </a:p>
                  </a:txBody>
                  <a:tcPr anchor="ctr" marL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52160" y="4526280"/>
            <a:ext cx="5760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50" b="1">
                <a:solidFill>
                  <a:srgbClr val="1F7A8C"/>
                </a:solidFill>
                <a:latin typeface="Calibri"/>
              </a:rPr>
              <a:t>▸  </a:t>
            </a:r>
            <a:r>
              <a:rPr sz="1450">
                <a:solidFill>
                  <a:srgbClr val="1B2638"/>
                </a:solidFill>
                <a:latin typeface="Calibri"/>
              </a:rPr>
              <a:t>Most cost is up-front (vaccinate the standing susceptible pool).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50" b="1">
                <a:solidFill>
                  <a:srgbClr val="1F7A8C"/>
                </a:solidFill>
                <a:latin typeface="Calibri"/>
              </a:rPr>
              <a:t>▸  </a:t>
            </a:r>
            <a:r>
              <a:rPr sz="1450">
                <a:solidFill>
                  <a:srgbClr val="1B2638"/>
                </a:solidFill>
                <a:latin typeface="Calibri"/>
              </a:rPr>
              <a:t>After saturation: steady ~407 vax/yr ≈ $4,070/yr recurring.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50" b="1">
                <a:solidFill>
                  <a:srgbClr val="1F7A8C"/>
                </a:solidFill>
                <a:latin typeface="Calibri"/>
              </a:rPr>
              <a:t>▸  </a:t>
            </a:r>
            <a:r>
              <a:rPr sz="1450">
                <a:solidFill>
                  <a:srgbClr val="1B2638"/>
                </a:solidFill>
                <a:latin typeface="Calibri"/>
              </a:rPr>
              <a:t>Transferable metric is $/infection averted, not the headline total (small synthetic population).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6B7688"/>
                </a:solidFill>
                <a:latin typeface="Calibri"/>
              </a:rPr>
              <a:t>Cumulative cost / vaccinations and infections averted.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F7A8C"/>
                </a:solidFill>
                <a:latin typeface="Calibri"/>
              </a:rPr>
              <a:t>Q(C) — OPTIMUM 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200" b="1" i="0">
                <a:solidFill>
                  <a:srgbClr val="14213D"/>
                </a:solidFill>
                <a:latin typeface="Calibri"/>
              </a:rPr>
              <a:t>A finite threshold ν_c exists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1463040" cy="3810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1">
                <a:solidFill>
                  <a:srgbClr val="2B3A55"/>
                </a:solidFill>
                <a:latin typeface="Calibri"/>
              </a:rPr>
              <a:t>Theory ν_c = l·p_c/(1−p_c) ≈ 0.135 (lower bound); simulated ν_c ≈ 0.37. The standard ν = 0.65 is safely above it.</a:t>
            </a:r>
          </a:p>
        </p:txBody>
      </p:sp>
      <p:pic>
        <p:nvPicPr>
          <p:cNvPr id="6" name="Picture 5" descr="qc_invasion_thresh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2434590"/>
            <a:ext cx="5669280" cy="35433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35040" y="6309360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6B7688"/>
                </a:solidFill>
                <a:latin typeface="Calibri"/>
              </a:rPr>
              <a:t>Invasion growth rate r(ν) crossing zero (R_eff = 1).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40280"/>
            <a:ext cx="5577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50" b="1">
                <a:solidFill>
                  <a:srgbClr val="1F7A8C"/>
                </a:solidFill>
                <a:latin typeface="Calibri"/>
              </a:rPr>
              <a:t>▸  </a:t>
            </a:r>
            <a:r>
              <a:rPr sz="1450">
                <a:solidFill>
                  <a:srgbClr val="1B2638"/>
                </a:solidFill>
                <a:latin typeface="Calibri"/>
              </a:rPr>
              <a:t>Need the steady protected fraction ν/(ν+l) ≥ p_c.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50" b="1">
                <a:solidFill>
                  <a:srgbClr val="1F7A8C"/>
                </a:solidFill>
                <a:latin typeface="Calibri"/>
              </a:rPr>
              <a:t>▸  </a:t>
            </a:r>
            <a:r>
              <a:rPr sz="1450">
                <a:solidFill>
                  <a:srgbClr val="1B2638"/>
                </a:solidFill>
                <a:latin typeface="Calibri"/>
              </a:rPr>
              <a:t>Closed form ν_c = l·p_c/(1−p_c) ≈ 0.135/yr — a lower bound (ignores perinatal route + mortality on P).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50" b="1">
                <a:solidFill>
                  <a:srgbClr val="1F7A8C"/>
                </a:solidFill>
                <a:latin typeface="Calibri"/>
              </a:rPr>
              <a:t>▸  </a:t>
            </a:r>
            <a:r>
              <a:rPr sz="1450">
                <a:solidFill>
                  <a:srgbClr val="1B2638"/>
                </a:solidFill>
                <a:latin typeface="Calibri"/>
              </a:rPr>
              <a:t>Direct invasion test (r crosses 0): ν_c ≈ 0.366/yr.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50" b="1">
                <a:solidFill>
                  <a:srgbClr val="1F7A8C"/>
                </a:solidFill>
                <a:latin typeface="Calibri"/>
              </a:rPr>
              <a:t>▸  </a:t>
            </a:r>
            <a:r>
              <a:rPr sz="1450">
                <a:solidFill>
                  <a:srgbClr val="1B2638"/>
                </a:solidFill>
                <a:latin typeface="Calibri"/>
              </a:rPr>
              <a:t>ν = 0.65 sits comfortably above ν_c → genuinely controls the epidemic.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50" b="1">
                <a:solidFill>
                  <a:srgbClr val="2E8B57"/>
                </a:solidFill>
                <a:latin typeface="Calibri"/>
              </a:rPr>
              <a:t>▸  </a:t>
            </a:r>
            <a:r>
              <a:rPr sz="1450">
                <a:solidFill>
                  <a:srgbClr val="1B2638"/>
                </a:solidFill>
                <a:latin typeface="Calibri"/>
              </a:rPr>
              <a:t>Caveat: if P is wrongly excluded from the pool, the threshold disappears — an artifact, not a real result.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F7A8C"/>
                </a:solidFill>
                <a:latin typeface="Calibri"/>
              </a:rPr>
              <a:t>Q(C) — COST-EFFECTIVE 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200" b="1" i="0">
                <a:solidFill>
                  <a:srgbClr val="14213D"/>
                </a:solidFill>
                <a:latin typeface="Calibri"/>
              </a:rPr>
              <a:t>Two 'optima': epidemiological vs cost-effective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1463040" cy="3810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1">
                <a:solidFill>
                  <a:srgbClr val="2B3A55"/>
                </a:solidFill>
                <a:latin typeface="Calibri"/>
              </a:rPr>
              <a:t>Infections averted saturate past ν_c — the cost-effective knee is at ν ≈ 0.18, well below the standard 0.65.</a:t>
            </a:r>
          </a:p>
        </p:txBody>
      </p:sp>
      <p:pic>
        <p:nvPicPr>
          <p:cNvPr id="6" name="Picture 5" descr="qc_cost_effective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40280"/>
            <a:ext cx="6437376" cy="4023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09360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6B7688"/>
                </a:solidFill>
                <a:latin typeface="Calibri"/>
              </a:rPr>
              <a:t>Average &amp; marginal cost per infection averted vs ν.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233172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1F7A8C"/>
                </a:solidFill>
                <a:latin typeface="Calibri"/>
              </a:rPr>
              <a:t>▸  </a:t>
            </a:r>
            <a:r>
              <a:rPr sz="1500">
                <a:solidFill>
                  <a:srgbClr val="1B2638"/>
                </a:solidFill>
                <a:latin typeface="Calibri"/>
              </a:rPr>
              <a:t>Below ν_c each extra unit of ν averts many infections.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1F7A8C"/>
                </a:solidFill>
                <a:latin typeface="Calibri"/>
              </a:rPr>
              <a:t>▸  </a:t>
            </a:r>
            <a:r>
              <a:rPr sz="1500">
                <a:solidFill>
                  <a:srgbClr val="1B2638"/>
                </a:solidFill>
                <a:latin typeface="Calibri"/>
              </a:rPr>
              <a:t>Past ν_c, nearly all ~13,400 achievable infections are already averted.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1F7A8C"/>
                </a:solidFill>
                <a:latin typeface="Calibri"/>
              </a:rPr>
              <a:t>▸  </a:t>
            </a:r>
            <a:r>
              <a:rPr sz="1500">
                <a:solidFill>
                  <a:srgbClr val="1B2638"/>
                </a:solidFill>
                <a:latin typeface="Calibri"/>
              </a:rPr>
              <a:t>Diminishing-returns knee (99% of max): ν ≈ 0.175/yr, marginal ~$122 each.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2E8B57"/>
                </a:solidFill>
                <a:latin typeface="Calibri"/>
              </a:rPr>
              <a:t>▸  </a:t>
            </a:r>
            <a:r>
              <a:rPr sz="1500">
                <a:solidFill>
                  <a:srgbClr val="1B2638"/>
                </a:solidFill>
                <a:latin typeface="Calibri"/>
              </a:rPr>
              <a:t>ν = 0.65 controls the epidemic but over-vaccinates relative to the knee.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F7A8C"/>
                </a:solidFill>
                <a:latin typeface="Calibri"/>
              </a:rPr>
              <a:t>Q(D) — VACCINATION VS CONDOMS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200" b="1" i="0">
                <a:solidFill>
                  <a:srgbClr val="14213D"/>
                </a:solidFill>
                <a:latin typeface="Calibri"/>
              </a:rPr>
              <a:t>A near-tie on outcome; different cost basis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1463040" cy="3810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1">
                <a:solidFill>
                  <a:srgbClr val="2B3A55"/>
                </a:solidFill>
                <a:latin typeface="Calibri"/>
              </a:rPr>
              <a:t>Both control the epidemic: vaccination R_eff 0.31 strictly below 1; condoms R₀ 1.17 just above.</a:t>
            </a:r>
          </a:p>
        </p:txBody>
      </p:sp>
      <p:pic>
        <p:nvPicPr>
          <p:cNvPr id="6" name="Picture 5" descr="qd_strateg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57007"/>
            <a:ext cx="5943600" cy="3624146"/>
          </a:xfrm>
          <a:prstGeom prst="rect">
            <a:avLst/>
          </a:prstGeom>
        </p:spPr>
      </p:pic>
      <p:pic>
        <p:nvPicPr>
          <p:cNvPr id="7" name="Picture 6" descr="qd_averted_and_re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2358717"/>
            <a:ext cx="5303520" cy="232344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92240" y="4617720"/>
            <a:ext cx="5303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50" b="1">
                <a:solidFill>
                  <a:srgbClr val="1F7A8C"/>
                </a:solidFill>
                <a:latin typeface="Calibri"/>
              </a:rPr>
              <a:t>▸  </a:t>
            </a:r>
            <a:r>
              <a:rPr sz="1350">
                <a:solidFill>
                  <a:srgbClr val="1B2638"/>
                </a:solidFill>
                <a:latin typeface="Calibri"/>
              </a:rPr>
              <a:t>Averted: vaccination 31,224 vs condoms 30,857 (of 31,235) — nearly identical.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50" b="1">
                <a:solidFill>
                  <a:srgbClr val="1F7A8C"/>
                </a:solidFill>
                <a:latin typeface="Calibri"/>
              </a:rPr>
              <a:t>▸  </a:t>
            </a:r>
            <a:r>
              <a:rPr sz="1350">
                <a:solidFill>
                  <a:srgbClr val="1B2638"/>
                </a:solidFill>
                <a:latin typeface="Calibri"/>
              </a:rPr>
              <a:t>Vaccination edges ahead: R_eff &lt; 1 strictly (residual 11 vs 378 infections).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50" b="1">
                <a:solidFill>
                  <a:srgbClr val="2E8B57"/>
                </a:solidFill>
                <a:latin typeface="Calibri"/>
              </a:rPr>
              <a:t>▸  </a:t>
            </a:r>
            <a:r>
              <a:rPr sz="1350">
                <a:solidFill>
                  <a:srgbClr val="1B2638"/>
                </a:solidFill>
                <a:latin typeface="Calibri"/>
              </a:rPr>
              <a:t>Cost basis differs: vaccine $348,618 explicit; condoms unpriced (≠ free).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50" b="1">
                <a:solidFill>
                  <a:srgbClr val="1F7A8C"/>
                </a:solidFill>
                <a:latin typeface="Calibri"/>
              </a:rPr>
              <a:t>▸  </a:t>
            </a:r>
            <a:r>
              <a:rPr sz="1350">
                <a:solidFill>
                  <a:srgbClr val="1B2638"/>
                </a:solidFill>
                <a:latin typeface="Calibri"/>
              </a:rPr>
              <a:t>Both verdicts are R₀-sensitive near threshold — honest near-tie.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0350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6B7688"/>
                </a:solidFill>
                <a:latin typeface="Calibri"/>
              </a:rPr>
              <a:t>Prevalence trajectories (left); averted &amp; R per strategy (right).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486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9FB4CC"/>
                </a:solidFill>
                <a:latin typeface="Calibri"/>
              </a:rP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FFFFFF"/>
                </a:solidFill>
                <a:latin typeface="Calibri"/>
              </a:rPr>
              <a:t>What the model says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91640"/>
            <a:ext cx="2011680" cy="5080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6984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800" b="1">
                <a:solidFill>
                  <a:srgbClr val="1F7A8C"/>
                </a:solidFill>
                <a:latin typeface="Calibri"/>
              </a:rPr>
              <a:t>●  </a:t>
            </a:r>
            <a:r>
              <a:rPr sz="1800">
                <a:solidFill>
                  <a:srgbClr val="FFFFFF"/>
                </a:solidFill>
                <a:latin typeface="Calibri"/>
              </a:rPr>
              <a:t>Vaccination at ν = 0.65 controls the epidemic — R_eff ≈ 0.31 &lt; 1, so it never ignites; prevalence stays near 0 vs the ~0.41 endemic plateau.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800" b="1">
                <a:solidFill>
                  <a:srgbClr val="1F7A8C"/>
                </a:solidFill>
                <a:latin typeface="Calibri"/>
              </a:rPr>
              <a:t>●  </a:t>
            </a:r>
            <a:r>
              <a:rPr sz="1800">
                <a:solidFill>
                  <a:srgbClr val="FFFFFF"/>
                </a:solidFill>
                <a:latin typeface="Calibri"/>
              </a:rPr>
              <a:t>It is cost-effective: ~$102 per infection averted at 30 yr, within the published Garnett/Stover range.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800" b="1">
                <a:solidFill>
                  <a:srgbClr val="1F7A8C"/>
                </a:solidFill>
                <a:latin typeface="Calibri"/>
              </a:rPr>
              <a:t>●  </a:t>
            </a:r>
            <a:r>
              <a:rPr sz="1800">
                <a:solidFill>
                  <a:srgbClr val="FFFFFF"/>
                </a:solidFill>
                <a:latin typeface="Calibri"/>
              </a:rPr>
              <a:t>A finite optimum exists: threshold ν_c ≈ 0.37; the cost-effective knee is ~0.18 — the standard 0.65 over-vaccinates a little.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800" b="1">
                <a:solidFill>
                  <a:srgbClr val="2E8B57"/>
                </a:solidFill>
                <a:latin typeface="Calibri"/>
              </a:rPr>
              <a:t>●  </a:t>
            </a:r>
            <a:r>
              <a:rPr sz="1800">
                <a:solidFill>
                  <a:srgbClr val="FFFFFF"/>
                </a:solidFill>
                <a:latin typeface="Calibri"/>
              </a:rPr>
              <a:t>Vaccination ≈ condoms on outcome; vaccination strictly crosses the threshold, but the two aren't comparable on cost as priced.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F7A8C"/>
                </a:solidFill>
                <a:latin typeface="Calibri"/>
              </a:rPr>
              <a:t>LIMITATIONS &amp; HONESTY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200" b="1" i="0">
                <a:solidFill>
                  <a:srgbClr val="14213D"/>
                </a:solidFill>
                <a:latin typeface="Calibri"/>
              </a:rPr>
              <a:t>What these results rest 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1463040" cy="3810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1">
                <a:solidFill>
                  <a:srgbClr val="2B3A55"/>
                </a:solidFill>
                <a:latin typeface="Calibri"/>
              </a:rPr>
              <a:t>Every conclusion is conditional on documented assumptions — stated, not hidden.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0280"/>
            <a:ext cx="11064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8A94A6"/>
                </a:solidFill>
                <a:latin typeface="Calibri"/>
              </a:rPr>
              <a:t>▸  </a:t>
            </a:r>
            <a:r>
              <a:rPr sz="1600">
                <a:solidFill>
                  <a:srgbClr val="1B2638"/>
                </a:solidFill>
                <a:latin typeface="Calibri"/>
              </a:rPr>
              <a:t>γ recalibration (1.16 → 0.1) was required for the epidemic to ignite at all; it shifts absolute levels.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8A94A6"/>
                </a:solidFill>
                <a:latin typeface="Calibri"/>
              </a:rPr>
              <a:t>▸  </a:t>
            </a:r>
            <a:r>
              <a:rPr sz="1600">
                <a:solidFill>
                  <a:srgbClr val="1B2638"/>
                </a:solidFill>
                <a:latin typeface="Calibri"/>
              </a:rPr>
              <a:t>Near-threshold sensitivity: condoms leave R₀ ≈ 1.17, so small calibration changes move the endemic level a lot.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1F7A8C"/>
                </a:solidFill>
                <a:latin typeface="Calibri"/>
              </a:rPr>
              <a:t>▸  </a:t>
            </a:r>
            <a:r>
              <a:rPr sz="1600">
                <a:solidFill>
                  <a:srgbClr val="1B2638"/>
                </a:solidFill>
                <a:latin typeface="Calibri"/>
              </a:rPr>
              <a:t>Partner-pool convention (P in denominator) is load-bearing — it is what gives vaccination its herd-immunity effect.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1F7A8C"/>
                </a:solidFill>
                <a:latin typeface="Calibri"/>
              </a:rPr>
              <a:t>▸  </a:t>
            </a:r>
            <a:r>
              <a:rPr sz="1600">
                <a:solidFill>
                  <a:srgbClr val="1B2638"/>
                </a:solidFill>
                <a:latin typeface="Calibri"/>
              </a:rPr>
              <a:t>Small synthetic population (N₀ = 8005) → dollar totals are illustrative; use $/infection averted.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1F7A8C"/>
                </a:solidFill>
                <a:latin typeface="Calibri"/>
              </a:rPr>
              <a:t>▸  </a:t>
            </a:r>
            <a:r>
              <a:rPr sz="1600">
                <a:solidFill>
                  <a:srgbClr val="1B2638"/>
                </a:solidFill>
                <a:latin typeface="Calibri"/>
              </a:rPr>
              <a:t>Single operating point (ν = 0.65, l = 0.1); constant-rate ν simplifies the Garnett/Stover coverage scenario.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37744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Thank you — questions?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3383280"/>
            <a:ext cx="2194560" cy="5080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C7D3E2"/>
                </a:solidFill>
                <a:latin typeface="Calibri"/>
              </a:rPr>
              <a:t>Backup: R₀ = c·√(β_mf·β_fm)/(μ+γ) = 2.35  ·  p_c = 1−1/R₀ = 0.574  ·  waning ceiling ν/(ν+l) = 0.87  ·  ν_c ≈ 0.37  ·  R_eff(ν=0.65) = 0.31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6692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FB4CC"/>
                </a:solidFill>
                <a:latin typeface="Calibri"/>
              </a:rPr>
              <a:t>李傳漢 · B11611027 · BME5113 · sIC HIV vaccination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