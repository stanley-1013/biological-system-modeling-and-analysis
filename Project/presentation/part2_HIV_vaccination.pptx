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各位同學、老師好，我是李傳漢，學號 B11611027。今天要報告的是 term project 的 Part 2：在 sIC AIDS model 上面加入 HIV vaccination。</a:t>
            </a:r>
          </a:p>
          <a:p/>
          <a:p>
            <a:r>
              <a:t>這個 model 來自 Haefner 2005 課本第 15 章，它其實是 Imperial College model 的簡化版，我們叫它 sIC。那整個 Part 2 想回答的，是一個很實際的問題：打疫苗到底能不能讓 HIV 疫情往下走？它要花多少錢？最佳的接種率又是多少？還有，跟推廣保險套比起來，到底哪一個比較有效？</a:t>
            </a:r>
          </a:p>
          <a:p/>
          <a:p>
            <a:r>
              <a:t>接下來這十五分鐘，我會先把 model 講清楚，再一題一題回答這四個問題。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先講一下為什麼要用 model。HIV 是一個透過性行為傳播、而且會拖很久的疫情，它的變化是用「幾十年」當單位在跑的。這種時間尺度，其實光靠直覺很不可靠 —— 你很難憑感覺去判斷一個介入措施在二、三十年後會累積出什麼效果。</a:t>
            </a:r>
          </a:p>
          <a:p/>
          <a:p>
            <a:r>
              <a:t>所以我們用 compartment model，把原本很模糊的政策問題，變成可以量化、而且可以在同一個 baseline 上面公平比較的問題。</a:t>
            </a:r>
          </a:p>
          <a:p/>
          <a:p>
            <a:r>
              <a:t>那 Part 2 具體就是四個問題：(a) 打疫苗會不會讓疫情先到高峰再下降；(b) 每避免一個感染要花多少錢；(c) 最佳接種率是多少；還有 (d) 疫苗跟保險套比起來怎麼樣。這四題我都會回到同一個 baseline 來比。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那先來看 model 本身。sIC 把人口切成 12 個 compartment：先是三個疾病狀態 —— S 是 susceptible 易感者、I 是感染了 HIV 但還沒發病、A 是臨床 AIDS；這三個再乘上性別，女 f、男 m，再乘上兩個年齡層 —— age 1 是 0 到 15 歲、還沒有性行為，age 2 是 16 歲以上、有性行為。所以三乘二乘二，剛好 12 格，就是右邊這張表。</a:t>
            </a:r>
          </a:p>
          <a:p/>
          <a:p>
            <a:r>
              <a:t>這裡有幾個重點：第一，只有 age 2 的人會傳染。第二，這是一個 Forrester 式的 flow model，裡面有出生、有 ageing 用 ξ、有 I 進展到 A 用 γ、還有 AIDS 死亡 α。</a:t>
            </a:r>
          </a:p>
          <a:p/>
          <a:p>
            <a:r>
              <a:t>那最關鍵的是 force of infection。HIV 是 frequency-dependent，也就是說，重要的不是感染者的「絕對數量」，而是在你可能的性伴侶裡面，有多大「比例」是感染者 —— 所以是 I 除以 (S+I)。注意 A 不在分母裡面，因為臨床 AIDS 的人被假設不再有性行為。這個細節等一下會變得很重要。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這張是 Table 15.2 的關鍵參數。我想特別點出一件事：傳染機率是不對稱的。男傳女 β 是 0.20，女傳男只有 0.075，差不多 2.7 倍。這是異性戀 HIV 一個很標準的生物特性，也正是為什麼在 baseline 裡，女性的 equilibrium prevalence 會比男性高。</a:t>
            </a:r>
          </a:p>
          <a:p/>
          <a:p>
            <a:r>
              <a:t>人口結構這邊也有幾個要記得的點：出生只由 age-2 的女性產生，而且發展中國家生育率高，所以人口在前期是會成長的。另外還有一個 perinatal route，ϑ 等於 0.35，意思是感染的母親有機會生出已經感染的新生兒 —— 這條傳染路徑，疫苗是擋不住的，等一下講 threshold 的時候會再提到。初始人口 N(0) 是 8005 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接下來這兩張，是我為了讓 model 真的跑出課本描述的行為，必須做的兩個判斷。我選擇老實講出來，因為它們會影響結果。</a:t>
            </a:r>
          </a:p>
          <a:p/>
          <a:p>
            <a:r>
              <a:t>第一個是進展率 γ。R₀ 的公式是 c 乘上根號 (β_mf × β_fm)，再除以 (μ+γ)。課本 Table 15.2 給的 γ 是 1.16，但這代表從感染到發病平均只有 0.85 年、不到一年，這跟課本自己講的「1 到 10 年」是矛盾的。更糟的是，把 1.16 代進去，R₀ 大概只有 0.24，小於 1，疫情根本點不起來 —— 我實際去模擬，seed 進去的感染就直接消失了。這跟 Fig 15.5「HIV 持續存在」完全相反。</a:t>
            </a:r>
          </a:p>
          <a:p/>
          <a:p>
            <a:r>
              <a:t>所以我改用比較有生物根據的 γ 等於 0.1，平均感染期大概 8.1 年，落在課本說的範圍內，這時候 R₀ 大概是 2.35，大於 1，疫情就會 invade，跟課本的圖一致。對應的 herd-immunity threshold，也就是 p_c，是 1 減 1 除以 R₀，大約 0.574。右邊這張圖就是修正之後的 baseline：HIV 持續存在，而且女性 prevalence 高於男性。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第二個判斷是 seed 要放哪裡。Table 15.2 是放 5 個 AIDS 男性，A_{m2} 等於 5。但前面講過，A 不在 force of infection 裡面，所以這 5 個人根本傳不出去 —— 他們只會進展、死亡，疫情永遠不會開始，我模擬出來 incidence 剛好就是零。那最小的修正，就是改成 seed 5 個 infectious 男性，I_{m2} 等於 5。</a:t>
            </a:r>
          </a:p>
          <a:p/>
          <a:p>
            <a:r>
              <a:t>做了這兩個修正之後，baseline 就重現了 Fig 15.5a：女性 prevalence 大約 0.77，男性大約 0.61，順序對、而且 HIV 持續存在。</a:t>
            </a:r>
          </a:p>
          <a:p/>
          <a:p>
            <a:r>
              <a:t>右邊是 condom scenario，做法跟課本一樣，把兩個 β 都減半。因為 R₀ 正比於根號 β，減半剛好讓 R₀ 變成 1.17，只比 threshold 高一點點，所以 prevalence 會崩掉。這就是 near-threshold 的敏感性 —— 在 1 附近，小小的調整就會讓結果差很多。我選擇把這個 divergence 講出來，而不是去硬調參數。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現在來加上疫苗。我加了兩個 protected compartment，P_{f2} 跟 P_{m2}，只在 age 2。易感者會以 per-capita 速率 ν 被接種進 P，而保護力會以速率 l 衰退、回到 S，所以它是一個 S 到 P 再回到 S 的循環。</a:t>
            </a:r>
          </a:p>
          <a:p/>
          <a:p>
            <a:r>
              <a:t>疫苗型態我用的是 take，也就是 all-or-nothing：在 P 裡面的人完全受保護，force of infection 不會作用在他們身上。專案的標準值是 ν 等於 0.65、l 等於 0.1。</a:t>
            </a:r>
          </a:p>
          <a:p/>
          <a:p>
            <a:r>
              <a:t>那這裡有一個解析上的上限，叫 waning ceiling：P 佔 (S+P) 的比例，最多到 ν 除以 (ν+l)，也就是 0.65 除以 0.75，大約 0.87。所以就算你一直打，任何時刻最多也只有大約 87% 的人受保護。成本我用一個 accumulator 去累計，dV/dt 等於 ν 乘上兩性 age-2 的易感者，每劑算 10 美元。</a:t>
            </a:r>
          </a:p>
          <a:p/>
          <a:p>
            <a:r>
              <a:t>那最關鍵的一個慣例在最後一點：受保護的人雖然沒被感染，可是他們還是有性行為、還是合法的性伴侶，只是跟他們發生關係不會傳染。所以他們要留在分母裡面，force of infection 就變成 I 除以 (S+I+P)。把易感者移進 P 會稀釋掉感染者的比例 —— 其實這個稀釋，正是 herd immunity 的機制。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那第一題：打疫苗會不會讓疫情先到高峰再下降？答案其實比「高峰再下降」還要更強。</a:t>
            </a:r>
          </a:p>
          <a:p/>
          <a:p>
            <a:r>
              <a:t>因為可達到的 protected fraction 0.87 高過 herd-immunity threshold 0.574，所以 R_eff 大概等於 R₀ 乘上 (1 − 0.867)，大約 0.31，小於 1。也就是說，疫情根本沒辦法 ignite。</a:t>
            </a:r>
          </a:p>
          <a:p/>
          <a:p>
            <a:r>
              <a:t>你看左邊這張 incidence 圖：打疫苗那一條，最高點就在 t 等於 0，那其實只是一開始 5 個 seed 男性傳給少數幾個人，之後就單調往下掉到接近零。對比 baseline，它衝到大約每年 791 個新感染、在第 48 年左右到高峰，而且維持得很高。那下降不是瞬間發生的，因為原本的 I 跟 A 還要花八到十年才會進展、死亡，但因為 R_eff 小於 1，沒有新的傳染去補充，病毒就被清掉了。同時 protected fraction 飽和在大約 0.85，剛好在 0.867 這個上限下面一點，符合 take-with-waning 的穩態。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第二題是成本。用剛剛那個 cost accumulator，右邊這張表列了幾個時間點。20 年累積花大約 11 萬 4 千美元，30 年大約 16 萬 2 千，50 年大約 24 萬 7 千 —— 大致上是線性成長。</a:t>
            </a:r>
          </a:p>
          <a:p/>
          <a:p>
            <a:r>
              <a:t>那重點是 cost-effectiveness 隨時間「明顯變好」。每避免一個感染的成本：20 年的時候是 372 美元，30 年降到 102 美元，50 年只剩 18 美元。原因是早期 baseline 疫情還沒起來，能避免的感染很少，所以看起來貴；等到 baseline 加速衝向每年 791 的高峰，而疫苗這邊一直接近零，avoided infections 增加得比成本快很多，單價就一路往下掉。</a:t>
            </a:r>
          </a:p>
          <a:p/>
          <a:p>
            <a:r>
              <a:t>30 年的 102 美元，落在 Stover 跟 Garnett 2002 報告的範圍內，算合理。另外飽和之後，疫苗會因為保護力衰退、加上新人長大，持續以大約每年 407 劑、約 4070 美元的速率 re-vaccinate。我要強調一下，因為這是一個很小的合成人口，能搬到別處用的指標是「每避免一個感染的成本」，而不是總金額。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第三題：最佳接種率。先講 epidemiological threshold，也就是最小、能把 R_eff 壓到 1 以下的 ν_c。</a:t>
            </a:r>
          </a:p>
          <a:p/>
          <a:p>
            <a:r>
              <a:t>條件是穩態 protected fraction、也就是 ν 除以 (ν+l)，要大於等於 p_c。解出來的 closed form 是 ν_c 等於 l 乘上 p_c 除以 (1 − p_c)，大約 0.135。但這只是一個 lower bound，因為它忽略了兩件事：perinatal 那條疫苗擋不住的傳染路徑，還有 mortality 也會作用在 P 上面。</a:t>
            </a:r>
          </a:p>
          <a:p/>
          <a:p>
            <a:r>
              <a:t>所以我就直接用 invasion test 去量 —— 在打過疫苗的無病人口裡丟一點點感染，看早期成長率 r 在哪個 ν 穿過零、也就是 R_eff 等於 1。模擬出來的 ν_c 大約是 0.366，右邊這張圖就是那個 zero crossing。標準的 ν 等於 0.65 舒服地在它上面，所以確實能控制疫情。</a:t>
            </a:r>
          </a:p>
          <a:p/>
          <a:p>
            <a:r>
              <a:t>最後一點 caveat：如果錯誤地把 P 排除在分母外面，這個 threshold 會整個消失 —— 但那是分母選擇造成的 artifact，不是真實的結果。所以我特別把這個對照也畫進去。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這張一樣是第三題，但「最佳」其實有兩個合理的意思，我兩個都報。前一張是 epidemiological 的；這一張是 cost-effective 的。</a:t>
            </a:r>
          </a:p>
          <a:p/>
          <a:p>
            <a:r>
              <a:t>關鍵在於：avoided infections 在超過 ν_c 之後會「飽和」。在 ν_c 以下，每多一點 ν 都能多避免很多感染；可是一旦超過 ν_c，大約 13400 個可避免的感染幾乎都已經被避免掉了，再加大接種，其實只是在重複幫衰退的人補打，效益很低。</a:t>
            </a:r>
          </a:p>
          <a:p/>
          <a:p>
            <a:r>
              <a:t>所以這裡有一個 diminishing-returns 的膝點 —— 能抓到 99% 最大避免量的最小 ν，大約在 0.175，那邊的邊際成本大約是每個感染 122 美元。標準的 ν 等於 0.65 雖然確實能控制疫情，但相對於這個 cost-effective 膝點，其實是「打多了」。這就是為什麼 epidemiological 最佳跟 cost-effective 最佳，答案會不一樣。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最後一題：疫苗跟保險套，哪一個比較會控制疫情？</a:t>
            </a:r>
          </a:p>
          <a:p/>
          <a:p>
            <a:r>
              <a:t>其實兩個都能控制。疫苗把 R_eff 壓到 0.31，嚴格小於 1；保險套把 R₀ 降到 1.17，還是稍微在 1 上面 —— 也就是說，減半 β 在這個 R₀ 還差一點點才跨過 threshold，但疫情已經慢到在時間範圍內等於被控制住了。</a:t>
            </a:r>
          </a:p>
          <a:p/>
          <a:p>
            <a:r>
              <a:t>在 avoided infections 上面兩者幾乎一樣：總共 31235 個感染，疫苗避免 31224、保險套避免 30857。疫苗只是稍微領先，因為它讓 R_eff 嚴格小於 1，殘留 11 個感染，而保險套殘留 378 個。</a:t>
            </a:r>
          </a:p>
          <a:p/>
          <a:p>
            <a:r>
              <a:t>那真正差很多的是成本基礎，這也是為什麼我不願意硬選一個贏家。疫苗有明確的 34 萬 8618 美元，而且因為 waning ceiling，要無限期地幫衰退的人補打。保險套這邊是被當成永久把 R₀ 砍半、而且沒有定價 —— 但「沒定價」不等於「免費」，真實的行為改變計畫也有它自己的預算，只是專案沒給。再加上 near-threshold 的敏感性，兩邊的結論都對 R₀ 很敏感。所以老實的講法是：在疫情結果上是接近平手，疫苗因為嚴格跨過 threshold 稍微領先，但以目前的定價方式，兩者沒辦法直接比成本。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把結論收一下。</a:t>
            </a:r>
          </a:p>
          <a:p/>
          <a:p>
            <a:r>
              <a:t>第一，ν 等於 0.65 的疫苗能控制疫情：R_eff 大約 0.31、小於 1，疫情根本不會 ignite，prevalence 維持在接近零，而不是 baseline 那個大約 0.41 的 endemic plateau。</a:t>
            </a:r>
          </a:p>
          <a:p/>
          <a:p>
            <a:r>
              <a:t>第二，它具有成本效益：30 年的時候，每避免一個感染大約 102 美元，落在已發表的 Garnett/Stover 範圍內。</a:t>
            </a:r>
          </a:p>
          <a:p/>
          <a:p>
            <a:r>
              <a:t>第三，存在一個有限的最佳值：threshold ν_c 大約 0.37，而 cost-effective 膝點大約 0.18，所以標準的 0.65 其實打得稍微多了一點。</a:t>
            </a:r>
          </a:p>
          <a:p/>
          <a:p>
            <a:r>
              <a:t>第四，疫苗跟保險套在結果上差不多，疫苗嚴格跨過 threshold，但以目前的定價方式，兩者不能直接比成本。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最後我想老實交代一下，這些結論是建立在哪些假設上面。</a:t>
            </a:r>
          </a:p>
          <a:p/>
          <a:p>
            <a:r>
              <a:t>第一，γ 從 1.16 改成 0.1，是為了讓疫情能 ignite 才不得不做的，它會移動絕對水準。第二，near-threshold 敏感性：保險套讓 R₀ 停在 1.17，所以小小的校準改變就會讓 endemic level 變很多。第三，partner-pool 慣例 —— 把 P 放進分母 —— 是 load-bearing 的，它正是疫苗 herd-immunity 效果的來源。第四，人口很小、是合成的，N₀ 只有 8005，所以金額是示意性的，要用每個感染的成本來看。第五，我只測了單一操作點 ν 等於 0.65、l 等於 0.1，而且把 ν 當成常數速率，這是對 Garnett/Stover coverage 情境的簡化。</a:t>
            </a:r>
          </a:p>
          <a:p/>
          <a:p>
            <a:r>
              <a:t>換句話說，所有結論都是有條件的，而我選擇把這些條件講清楚，而不是把它藏起來。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以上就是我的報告，謝謝大家，也歡迎提問。</a:t>
            </a:r>
          </a:p>
          <a:p/>
          <a:p>
            <a:r>
              <a:t>如果需要的話，下面這幾個常數可以幫我快速回答問題：R₀ 是 2.35、p_c 是 0.574、waning ceiling 0.87、ν_c 大約 0.37、ν 等於 0.65 的時候 R_eff 是 0.31。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A6473"/>
                </a:solidFill>
                <a:latin typeface="Archivo"/>
              </a:rPr>
              <a:t>T E R M   P R O J E C T   ·   P A R T   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8585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200" b="1" i="0">
                <a:solidFill>
                  <a:srgbClr val="14181F"/>
                </a:solidFill>
                <a:latin typeface="Archivo"/>
              </a:rPr>
              <a:t>HIV Vaccination on the
sIC AIDS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310128"/>
            <a:ext cx="2194560" cy="508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611880"/>
            <a:ext cx="8686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5A6473"/>
                </a:solidFill>
                <a:latin typeface="Nunito Sans"/>
              </a:rPr>
              <a:t>A compartment-model study of epidemic control, cost, and intervention choice.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074920"/>
            <a:ext cx="11185855" cy="12700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285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5484D"/>
                </a:solidFill>
                <a:latin typeface="Archivo"/>
              </a:rPr>
              <a:t>A u t h o 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5955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181F"/>
                </a:solidFill>
                <a:latin typeface="Nunito Sans"/>
              </a:rPr>
              <a:t>李傳漢 · Chuan-Han 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070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A6473"/>
                </a:solidFill>
                <a:latin typeface="Nunito Sans"/>
              </a:rPr>
              <a:t>B11611027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528523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5484D"/>
                </a:solidFill>
                <a:latin typeface="Archivo"/>
              </a:rPr>
              <a:t>C o u r s 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55955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4181F"/>
                </a:solidFill>
                <a:latin typeface="Nunito Sans"/>
              </a:rPr>
              <a:t>BME5113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5907024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A6473"/>
                </a:solidFill>
                <a:latin typeface="Nunito Sans"/>
              </a:rPr>
              <a:t>Biological Systems Modeling &amp;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T I V A T I O N   ·   F O U R   Q U E S T I O N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100" b="1" i="0">
                <a:solidFill>
                  <a:srgbClr val="14181F"/>
                </a:solidFill>
                <a:latin typeface="Archivo"/>
              </a:rPr>
              <a:t>Can a vaccine bend an endemic epidemic?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38100" cy="86868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83080"/>
            <a:ext cx="11039551" cy="868680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I D E A</a:t>
            </a:r>
          </a:p>
          <a:p>
            <a:pPr>
              <a:lnSpc>
                <a:spcPct val="118000"/>
              </a:lnSpc>
            </a:pPr>
            <a:r>
              <a:rPr sz="1600" b="1">
                <a:solidFill>
                  <a:srgbClr val="14181F"/>
                </a:solidFill>
                <a:latin typeface="Nunito Sans"/>
              </a:rPr>
              <a:t>In this model HIV is S → I → AIDS with births, so the infection persists endemically — it never burns out on its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80360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880360"/>
            <a:ext cx="5464911" cy="381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30449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044952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Will a vaccine make the epidemic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peak then decline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863" y="2880360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3863" y="2880360"/>
            <a:ext cx="5464911" cy="381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5031" y="3044952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2543" y="3044952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What does the vaccination program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cost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713732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713732"/>
            <a:ext cx="5464911" cy="381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878324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878324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What is the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optimum vaccination rate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23863" y="4713732"/>
            <a:ext cx="5464911" cy="15773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23863" y="4713732"/>
            <a:ext cx="5464911" cy="38100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5031" y="4878324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92543" y="4878324"/>
            <a:ext cx="4413351" cy="1248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600" b="0" i="0">
                <a:solidFill>
                  <a:srgbClr val="5A6473"/>
                </a:solidFill>
                <a:latin typeface="Nunito Sans"/>
              </a:rPr>
              <a:t>Vaccination vs. </a:t>
            </a:r>
            <a:r>
              <a:rPr sz="1600" b="1" i="0">
                <a:solidFill>
                  <a:srgbClr val="14181F"/>
                </a:solidFill>
                <a:latin typeface="Nunito Sans"/>
              </a:rPr>
              <a:t>safe-sex / condoms</a:t>
            </a:r>
            <a:r>
              <a:rPr sz="1600" b="0" i="0">
                <a:solidFill>
                  <a:srgbClr val="5A6473"/>
                </a:solidFill>
                <a:latin typeface="Nunito Sans"/>
              </a:rPr>
              <a:t> — which controls it better?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S T R U C T U R E   ·   1 2   C O M P A R T M E N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The sIC model: {S, I, AIDS} × sex × 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03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F · 0–15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805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F · 16+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9371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M · 0–15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8937" y="2148840"/>
            <a:ext cx="2359837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4181F"/>
                </a:solidFill>
                <a:latin typeface="Archivo"/>
              </a:rPr>
              <a:t>M · 16+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48840"/>
            <a:ext cx="1371600" cy="384048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A6473"/>
                </a:solidFill>
                <a:latin typeface="Archivo"/>
              </a:rPr>
              <a:t>class \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24328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Susceptible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805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Sf2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9371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Sm1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8937" y="2624328"/>
            <a:ext cx="2359837" cy="658368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Sm2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429000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Infected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If1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805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If2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9371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Im1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8937" y="3429000"/>
            <a:ext cx="2359837" cy="65836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Im2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3367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A6473"/>
                </a:solidFill>
                <a:latin typeface="Archivo"/>
              </a:rPr>
              <a:t>AIDS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20240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Af1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805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Af2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9371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Am1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8937" y="4233672"/>
            <a:ext cx="2359837" cy="65836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chivo"/>
              </a:rPr>
              <a:t>Am2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93208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202936"/>
            <a:ext cx="111858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4181F"/>
                </a:solidFill>
                <a:latin typeface="Archivo"/>
              </a:rPr>
              <a:t>λ = c · β · I / (S+I)</a:t>
            </a:r>
            <a:r>
              <a:rPr sz="1300">
                <a:solidFill>
                  <a:srgbClr val="5A6473"/>
                </a:solidFill>
                <a:latin typeface="Nunito Sans"/>
              </a:rPr>
              <a:t>    frequency-dependent force of infection</a:t>
            </a:r>
          </a:p>
          <a:p>
            <a:pPr>
              <a:lnSpc>
                <a:spcPct val="125000"/>
              </a:lnSpc>
            </a:pPr>
            <a:r>
              <a:rPr sz="1300">
                <a:solidFill>
                  <a:srgbClr val="5A6473"/>
                </a:solidFill>
                <a:latin typeface="Nunito Sans"/>
              </a:rPr>
              <a:t>births · ageing ξ · HIV→AIDS progression γ · AIDS mortality α · natural mortality 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T A B L E   1 5 . 2   ·   W H Y   I T   P E R S I S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100" b="1" i="0">
                <a:solidFill>
                  <a:srgbClr val="14181F"/>
                </a:solidFill>
                <a:latin typeface="Archivo"/>
              </a:rPr>
              <a:t>Parameters &amp; the endemic plateau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04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0.20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βmf male→female transmission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0324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08340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E5484D"/>
                </a:solidFill>
                <a:latin typeface="Archivo"/>
              </a:rPr>
              <a:t>0.075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08340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βfm female→male transmission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7729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5745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2.35/yr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5745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c partner-change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35133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3149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0.0227/yr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3149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μ natural mortality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2538" y="1874519"/>
            <a:ext cx="207623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0554" y="2020823"/>
            <a:ext cx="18202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1" i="0">
                <a:solidFill>
                  <a:srgbClr val="1F7A8C"/>
                </a:solidFill>
                <a:latin typeface="Archivo"/>
              </a:rPr>
              <a:t>1.0/yr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40554" y="2587751"/>
            <a:ext cx="18202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473"/>
                </a:solidFill>
                <a:latin typeface="Nunito Sans"/>
              </a:rPr>
              <a:t>α extra AIDS mortality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11880"/>
            <a:ext cx="38100" cy="13716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3611880"/>
            <a:ext cx="11039551" cy="1371600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I D E A</a:t>
            </a:r>
          </a:p>
          <a:p>
            <a:pPr>
              <a:lnSpc>
                <a:spcPct val="118000"/>
              </a:lnSpc>
            </a:pPr>
            <a:r>
              <a:rPr sz="1700" b="1">
                <a:solidFill>
                  <a:srgbClr val="14181F"/>
                </a:solidFill>
                <a:latin typeface="Nunito Sans"/>
              </a:rPr>
              <a:t>Transmission is asymmetric (βmf &gt; βfm) so women are infected more — and births continually refill susceptibles, driving an endemic plateau rather than burnout.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D E L I N G   J U D G M E N T   1   ·   T H E   R A T E   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Recalibrating HIV→AIDS progression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05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erify_baseline_preval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49924"/>
            <a:ext cx="5425135" cy="3327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Baseline prevalence — growth to an endemic plateau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A corrected, biologically grounded γ is required for the model to behave like a real epidemic.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The textbook's literal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γ = 1.16/yr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means HIV→AIDS in under a year →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R₀ = 0.24 &lt; 1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→ no epidemic.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Biologically, HIV→AIDS takes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~8–10 years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We use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γ = 0.1/yr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→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R₀ ≈ 2.35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V A L I D A T I O N   ·   F I G .   1 5 . 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Calibrated against the published sIC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06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erify_condom_preval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49924"/>
            <a:ext cx="5425135" cy="3327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Baseline vs. condom scenario prevalence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The model is calibrated and behaves like the published sIC model before we add a vaccine.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Baseline reproduces the textbook: growth to a high endemic plateau.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Female prevalence (</a:t>
            </a:r>
            <a:r>
              <a:rPr sz="1500" b="1">
                <a:solidFill>
                  <a:srgbClr val="14181F"/>
                </a:solidFill>
                <a:latin typeface="Nunito Sans"/>
              </a:rPr>
              <a:t>0.77</a:t>
            </a:r>
            <a:r>
              <a:rPr sz="1500" b="0">
                <a:solidFill>
                  <a:srgbClr val="5A6473"/>
                </a:solidFill>
                <a:latin typeface="Nunito Sans"/>
              </a:rPr>
              <a:t>) above male (</a:t>
            </a:r>
            <a:r>
              <a:rPr sz="1500" b="1">
                <a:solidFill>
                  <a:srgbClr val="14181F"/>
                </a:solidFill>
                <a:latin typeface="Nunito Sans"/>
              </a:rPr>
              <a:t>0.62</a:t>
            </a:r>
            <a:r>
              <a:rPr sz="1500" b="0">
                <a:solidFill>
                  <a:srgbClr val="5A6473"/>
                </a:solidFill>
                <a:latin typeface="Nunito Sans"/>
              </a:rPr>
              <a:t>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Condom scenario (halving both β) sharply suppresses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07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M O D E L   E X T E N S I O N   ·   P R O T E C T E D   C O M P A R T M E N T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A “take”-with-waning vaccine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07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a_protected_fr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36123"/>
            <a:ext cx="5425135" cy="33550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Protected fraction → waning ceiling 0.87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Protected people stay in the partner pool, so vaccination dilutes the infected fraction — this is what produces herd immunity.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Add protected adults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Pf2, Pm2</a:t>
            </a:r>
            <a:r>
              <a:rPr sz="1400" b="0">
                <a:solidFill>
                  <a:srgbClr val="5A6473"/>
                </a:solidFill>
                <a:latin typeface="Nunito Sans"/>
              </a:rPr>
              <a:t>; vaccinate susceptible adults at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ν = 0.65/yr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(≈ Garnett 2002 “65% coverage”).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Protection wanes at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l = 0.1/yr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(≈ 10-year mean).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Ceiling: at most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ν/(ν+l) = 0.87</a:t>
            </a:r>
            <a:r>
              <a:rPr sz="1400" b="0">
                <a:solidFill>
                  <a:srgbClr val="5A6473"/>
                </a:solidFill>
                <a:latin typeface="Nunito Sans"/>
              </a:rPr>
              <a:t> of adults are ever protected.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00" b="0">
                <a:solidFill>
                  <a:srgbClr val="5A6473"/>
                </a:solidFill>
                <a:latin typeface="Nunito Sans"/>
              </a:rPr>
              <a:t>Cost tracked via </a:t>
            </a:r>
            <a:r>
              <a:rPr sz="1400" b="1">
                <a:solidFill>
                  <a:srgbClr val="14181F"/>
                </a:solidFill>
                <a:latin typeface="Nunito Sans"/>
              </a:rPr>
              <a:t>dV/dt = ν(Sf2+Sm2)</a:t>
            </a:r>
            <a:r>
              <a:rPr sz="14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08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A )   ·   P E A K   &amp;   D E C L I N 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Does the vaccine make it peak then decline?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08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a_inc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36123"/>
            <a:ext cx="5425135" cy="33550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HIV incidence: baseline peak vs. vaccinated decline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A N S W E R</a:t>
            </a:r>
          </a:p>
          <a:p>
            <a:pPr>
              <a:lnSpc>
                <a:spcPct val="118000"/>
              </a:lnSpc>
            </a:pPr>
            <a:r>
              <a:rPr sz="1500" b="1">
                <a:solidFill>
                  <a:srgbClr val="14181F"/>
                </a:solidFill>
                <a:latin typeface="Nunito Sans"/>
              </a:rPr>
              <a:t>Yes — vaccination turns sustained growth into immediate decline.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Under ν = 0.65, the effective reproduction number drops to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R_eff ≈ 0.31 &lt; 1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HIV incidence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declines from the very start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The untreated baseline instead peaks at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791 new infections/yr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around year 48.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09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B )   ·   P R O G R A M   C O S 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What does it cost?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09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b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271" y="2116836"/>
            <a:ext cx="3787840" cy="35935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Cumulative cost &amp; cost per infection averted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Cost-per-infection-averted is the transferable metric — absolute $ scale with this small synthetic population.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At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$10 per vaccination</a:t>
            </a:r>
            <a:r>
              <a:rPr sz="1450" b="0">
                <a:solidFill>
                  <a:srgbClr val="5A6473"/>
                </a:solidFill>
                <a:latin typeface="Nunito Sans"/>
              </a:rPr>
              <a:t>: cumulative cost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 $162k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by year 30 (≈ $4,070/yr at steady state).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About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$102 per infection averted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at 30 years.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0">
                <a:solidFill>
                  <a:srgbClr val="5A6473"/>
                </a:solidFill>
                <a:latin typeface="Nunito Sans"/>
              </a:rPr>
              <a:t>Within the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$110–390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range of the Imperial-College / Stover analyses.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C )   ·   T H E   C R I T I C A L   R A T 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Optimum rate — the elimination threshold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10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c_prevalence_vs_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18277"/>
            <a:ext cx="5425135" cy="33907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Steady-state prevalence vs. vaccination rate 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04288"/>
            <a:ext cx="5138928" cy="3895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A critical rate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νc ≈ 0.37/yr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drives the epidemic to elimination above it.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Matches herd immunity: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νc = l·pc/(1−pc)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with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pc = 1 − 1/R₀ ≈ 0.574</a:t>
            </a:r>
            <a:r>
              <a:rPr sz="150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The standard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 = 0.65</a:t>
            </a:r>
            <a:r>
              <a:rPr sz="1500" b="0">
                <a:solidFill>
                  <a:srgbClr val="5A6473"/>
                </a:solidFill>
                <a:latin typeface="Nunito Sans"/>
              </a:rPr>
              <a:t> sits comfortably above νc.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C )   ·   T W O   O P T I M U M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4181F"/>
                </a:solidFill>
                <a:latin typeface="Archivo"/>
              </a:rPr>
              <a:t>Optimum rate — best value vs. elimination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11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c_cost_effective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218277"/>
            <a:ext cx="5425135" cy="33907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Cost-effectiveness — the value knee at ν ≈ 0.18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550" b="1">
                <a:solidFill>
                  <a:srgbClr val="14181F"/>
                </a:solidFill>
                <a:latin typeface="Nunito Sans"/>
              </a:rPr>
              <a:t>“Control the epidemic” and “best value for money” are not the same target.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E5484D"/>
                </a:solidFill>
                <a:latin typeface="Nunito Sans"/>
              </a:rPr>
              <a:t>▪ 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Epidemiological optimum: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eliminate the epidemic, ν ≥ νc.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Cost-effective optimum: </a:t>
            </a:r>
            <a:r>
              <a:rPr sz="1500" b="0">
                <a:solidFill>
                  <a:srgbClr val="5A6473"/>
                </a:solidFill>
                <a:latin typeface="Nunito Sans"/>
              </a:rPr>
              <a:t>best value — a diminishing-returns knee near </a:t>
            </a:r>
            <a:r>
              <a:rPr sz="1500" b="1">
                <a:solidFill>
                  <a:srgbClr val="14181F"/>
                </a:solidFill>
                <a:latin typeface="Nunito Sans"/>
              </a:rPr>
              <a:t>ν ≈ 0.18/yr</a:t>
            </a:r>
            <a:r>
              <a:rPr sz="15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Q ( D )   ·   V A C C I N A T I O N   V S .   C O N D O M 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000" b="1" i="0">
                <a:solidFill>
                  <a:srgbClr val="14181F"/>
                </a:solidFill>
                <a:latin typeface="Archivo"/>
              </a:rPr>
              <a:t>Which controls it better?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12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007608" y="1988820"/>
            <a:ext cx="5681167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d_averted_and_re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725269"/>
            <a:ext cx="5425135" cy="23767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35624" y="5838444"/>
            <a:ext cx="542513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A6473"/>
                </a:solidFill>
                <a:latin typeface="Archivo"/>
              </a:rPr>
              <a:t>Infections averted &amp; R_eff by strategy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38100" cy="1060704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847088"/>
            <a:ext cx="4992624" cy="1060704"/>
          </a:xfrm>
          <a:prstGeom prst="rect">
            <a:avLst/>
          </a:prstGeom>
          <a:noFill/>
        </p:spPr>
        <p:txBody>
          <a:bodyPr wrap="square" anchor="ctr" lIns="2540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5484D"/>
                </a:solidFill>
                <a:latin typeface="Archivo"/>
              </a:rPr>
              <a:t>K E Y   M E S S A G E</a:t>
            </a:r>
          </a:p>
          <a:p>
            <a:pPr>
              <a:lnSpc>
                <a:spcPct val="118000"/>
              </a:lnSpc>
            </a:pPr>
            <a:r>
              <a:rPr sz="1450" b="1">
                <a:solidFill>
                  <a:srgbClr val="14181F"/>
                </a:solidFill>
                <a:latin typeface="Nunito Sans"/>
              </a:rPr>
              <a:t>Essentially a tie on epidemiological outcome; they differ on cost basis and the vaccine's waning ceiling — no single winner is claimed.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45536"/>
            <a:ext cx="5138928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Vaccination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(ν=0.65) → R_eff=0.31, averts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≈31,224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infections, explicit cost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≈$349k</a:t>
            </a:r>
            <a:r>
              <a:rPr sz="1450" b="0">
                <a:solidFill>
                  <a:srgbClr val="5A6473"/>
                </a:solidFill>
                <a:latin typeface="Nunito Sans"/>
              </a:rPr>
              <a:t>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25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Condoms</a:t>
            </a:r>
            <a:r>
              <a:rPr sz="1450" b="0">
                <a:solidFill>
                  <a:srgbClr val="5A6473"/>
                </a:solidFill>
                <a:latin typeface="Nunito Sans"/>
              </a:rPr>
              <a:t> (halving β) → R₀=1.17 (just above threshold), averts </a:t>
            </a:r>
            <a:r>
              <a:rPr sz="1450" b="1">
                <a:solidFill>
                  <a:srgbClr val="14181F"/>
                </a:solidFill>
                <a:latin typeface="Nunito Sans"/>
              </a:rPr>
              <a:t>≈30,857</a:t>
            </a:r>
            <a:r>
              <a:rPr sz="1450" b="0">
                <a:solidFill>
                  <a:srgbClr val="5A6473"/>
                </a:solidFill>
                <a:latin typeface="Nunito Sans"/>
              </a:rPr>
              <a:t>, no priced cost 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S Y N T H E S I S   ·   W H A T   W E   L E A R N E 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1" i="0">
                <a:solidFill>
                  <a:srgbClr val="14181F"/>
                </a:solidFill>
                <a:latin typeface="Archivo"/>
              </a:rPr>
              <a:t>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13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97989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62456" y="2057400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A waning vaccine at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ν=0.65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drives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R_eff &lt; 1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and makes the epidemic decline.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02127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2456" y="3161538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It is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cost-effective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— about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$102 per infection averted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06265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4265676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It is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comparable to condom promotion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on epidemiological outcome.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510403"/>
            <a:ext cx="566928" cy="566928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chiv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2456" y="5369814"/>
            <a:ext cx="10326319" cy="8481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800" b="0" i="0">
                <a:solidFill>
                  <a:srgbClr val="5A6473"/>
                </a:solidFill>
                <a:latin typeface="Nunito Sans"/>
              </a:rPr>
              <a:t>Conclusions hold </a:t>
            </a:r>
            <a:r>
              <a:rPr sz="1800" b="1" i="0">
                <a:solidFill>
                  <a:srgbClr val="14181F"/>
                </a:solidFill>
                <a:latin typeface="Nunito Sans"/>
              </a:rPr>
              <a:t>above the herd-immunity threshold</a:t>
            </a:r>
            <a:r>
              <a:rPr sz="1800" b="0" i="0">
                <a:solidFill>
                  <a:srgbClr val="5A6473"/>
                </a:solidFill>
                <a:latin typeface="Nunito Sans"/>
              </a:rPr>
              <a:t> νc ≈ 0.37/yr.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H O N E S T Y   ·   W H A T   T O   D I S T R U S 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41248"/>
            <a:ext cx="111858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400" b="1" i="0">
                <a:solidFill>
                  <a:srgbClr val="14181F"/>
                </a:solidFill>
                <a:latin typeface="Archivo"/>
              </a:rPr>
              <a:t>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45936"/>
            <a:ext cx="11185855" cy="9525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3"/>
                </a:solidFill>
                <a:latin typeface="Archivo"/>
              </a:rPr>
              <a:t>HIV Vaccination on the sIC AIDS Model  ·  李傳漢 Chuan-Han 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59975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5A6473"/>
                </a:solidFill>
                <a:latin typeface="Archivo"/>
              </a:rPr>
              <a:t>14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11185855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γ recalibrated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from the implausible literal textbook value.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8A94A6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Results are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sensitive near the R₀ threshold</a:t>
            </a:r>
            <a:r>
              <a:rPr sz="1800" b="0">
                <a:solidFill>
                  <a:srgbClr val="5A6473"/>
                </a:solidFill>
                <a:latin typeface="Nunito Sans"/>
              </a:rPr>
              <a:t>, so condoms vs. vaccine is a close call.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Small synthetic population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— use cost-per-infection-averted, not absolute $.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1F7A8C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A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single operating point</a:t>
            </a:r>
            <a:r>
              <a:rPr sz="1800" b="0">
                <a:solidFill>
                  <a:srgbClr val="5A6473"/>
                </a:solidFill>
                <a:latin typeface="Nunito Sans"/>
              </a:rPr>
              <a:t> was analysed, not a full sweep of every parameter.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>
                <a:solidFill>
                  <a:srgbClr val="2E8B57"/>
                </a:solidFill>
                <a:latin typeface="Nunito Sans"/>
              </a:rPr>
              <a:t>▪  </a:t>
            </a:r>
            <a:r>
              <a:rPr sz="1800" b="0">
                <a:solidFill>
                  <a:srgbClr val="5A6473"/>
                </a:solidFill>
                <a:latin typeface="Nunito Sans"/>
              </a:rPr>
              <a:t>The herd-immunity result </a:t>
            </a:r>
            <a:r>
              <a:rPr sz="1800" b="1">
                <a:solidFill>
                  <a:srgbClr val="14181F"/>
                </a:solidFill>
                <a:latin typeface="Nunito Sans"/>
              </a:rPr>
              <a:t>depends on keeping protected people in the partner pool</a:t>
            </a:r>
            <a:r>
              <a:rPr sz="1800" b="0">
                <a:solidFill>
                  <a:srgbClr val="5A6473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74175" y="3611880"/>
            <a:ext cx="2834640" cy="31089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80000"/>
              </a:lnSpc>
            </a:pPr>
            <a:r>
              <a:rPr sz="20000" b="1" i="0">
                <a:solidFill>
                  <a:srgbClr val="F8ECEC"/>
                </a:solidFill>
                <a:latin typeface="Archivo"/>
              </a:rPr>
              <a:t>15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594360"/>
            <a:ext cx="310896" cy="25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502920"/>
            <a:ext cx="1076523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E5484D"/>
                </a:solidFill>
                <a:latin typeface="Archivo"/>
              </a:rPr>
              <a:t>P A R T   2   ·   T H E   E N 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1118585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600" b="1" i="0">
                <a:solidFill>
                  <a:srgbClr val="14181F"/>
                </a:solidFill>
                <a:latin typeface="Archivo"/>
              </a:rPr>
              <a:t>Thank you.
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4069080"/>
            <a:ext cx="69494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069080"/>
            <a:ext cx="38100" cy="914400"/>
          </a:xfrm>
          <a:prstGeom prst="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406908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700" b="1">
                <a:solidFill>
                  <a:srgbClr val="14181F"/>
                </a:solidFill>
                <a:latin typeface="Archivo"/>
              </a:rPr>
              <a:t>Recap: </a:t>
            </a:r>
            <a:r>
              <a:rPr sz="1700" b="1">
                <a:solidFill>
                  <a:srgbClr val="1F7A8C"/>
                </a:solidFill>
                <a:latin typeface="Archivo"/>
              </a:rPr>
              <a:t>R₀ ≈ 2.35</a:t>
            </a:r>
            <a:r>
              <a:rPr sz="1700" b="1">
                <a:solidFill>
                  <a:srgbClr val="14181F"/>
                </a:solidFill>
                <a:latin typeface="Archivo"/>
              </a:rPr>
              <a:t> → with </a:t>
            </a:r>
            <a:r>
              <a:rPr sz="1700" b="1">
                <a:solidFill>
                  <a:srgbClr val="1F7A8C"/>
                </a:solidFill>
                <a:latin typeface="Archivo"/>
              </a:rPr>
              <a:t>ν = 0.65</a:t>
            </a:r>
            <a:r>
              <a:rPr sz="1700" b="1">
                <a:solidFill>
                  <a:srgbClr val="14181F"/>
                </a:solidFill>
                <a:latin typeface="Archivo"/>
              </a:rPr>
              <a:t>, </a:t>
            </a:r>
            <a:r>
              <a:rPr sz="1700" b="1">
                <a:solidFill>
                  <a:srgbClr val="1F7A8C"/>
                </a:solidFill>
                <a:latin typeface="Archivo"/>
              </a:rPr>
              <a:t>R_eff ≈ 0.31 &lt; 1</a:t>
            </a:r>
            <a:r>
              <a:rPr sz="1700" b="1">
                <a:solidFill>
                  <a:srgbClr val="14181F"/>
                </a:solidFill>
                <a:latin typeface="Archivo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623560"/>
            <a:ext cx="11185855" cy="12700"/>
          </a:xfrm>
          <a:prstGeom prst="rect">
            <a:avLst/>
          </a:prstGeom>
          <a:solidFill>
            <a:srgbClr val="E4E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78815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A6473"/>
                </a:solidFill>
                <a:latin typeface="Nunito Sans"/>
              </a:rPr>
              <a:t>李傳漢 (Chuan-Han Li) · B11611027  —  BME5113 Biological Systems Modeling &amp; Analysis · Term Project, Part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