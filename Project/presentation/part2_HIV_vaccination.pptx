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各位同學、老師好，我是李傳漢，學號 B11611027。今天報告這次學期專題的第二部分（Part 2）：在 sIC AIDS model（一個描述愛滋疫情的數學模型）上面，加進 HIV vaccination（愛滋疫苗接種）。</a:t>
            </a:r>
          </a:p>
          <a:p/>
          <a:p>
            <a:r>
              <a:t>這個模型來自 Haefner 2005 課本第 15 章，是 Imperial College（帝國理工學院）那個模型的簡化版，叫 sIC。第二部分要回答一個很實際的問題：打疫苗，到底能不能讓 HIV 疫情往下走？要花多少錢？最佳接種率是多少？跟推廣保險套比，哪個比較有效？</a:t>
            </a:r>
          </a:p>
          <a:p/>
          <a:p>
            <a:r>
              <a:t>接下來十五分鐘，我先把模型講清楚，再一題一題回答。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為什麼要用模型？</a:t>
            </a:r>
          </a:p>
          <a:p/>
          <a:p>
            <a:r>
              <a:t>因為 HIV 透過性行為傳播、而且拖很久，疫情是用「幾十年」當單位在跑。這種時間尺度，光憑直覺判斷一個介入二、三十年後的累積效果，非常不可靠。所以我們用 compartment model（分艙模型，把人口分成幾個「艙」、追蹤人數怎麼在艙之間流動），把模糊的政策問題，變成可量化、可以在同一個 baseline（基準情境，也就是什麼介入都不做的對照組）上公平比較的問題。</a:t>
            </a:r>
          </a:p>
          <a:p/>
          <a:p>
            <a:r>
              <a:t>第二部分就是四個問題：(a) 疫苗會不會讓疫情先到高峰、再下降；(b) 每避免一個感染要花多少錢；(c) 最佳接種率；(d) 疫苗跟保險套哪個好。先講結論：接種率 ν（音 nu，每人每年被接種的速率）等於 0.65 的疫苗能把疫情壓下去，而且具成本效益（cost-effective，花的錢換到的效果划算）——細節我一題一題比。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先看模型本身。</a:t>
            </a:r>
          </a:p>
          <a:p/>
          <a:p>
            <a:r>
              <a:t>sIC 把人口切成三個疾病狀態：S 是 susceptible（易感者，也就是還沒被感染、有可能被感染的人）、I 是感染 HIV 但還沒發病、A 是臨床 AIDS（已經發病的愛滋病人）。每個再乘上性別（f 女、m 男）、再乘上兩個年齡層（age 1 是 0–15 歲還沒有性行為、age 2 是 16 歲以上有性行為）。三乘二乘二，就是右邊這 12 個 compartment（分艙、也就是這 12 格）。</a:t>
            </a:r>
          </a:p>
          <a:p/>
          <a:p>
            <a:r>
              <a:t>重點兩個：只有 age 2 會傳染；這是一個 flow model（流動模型，人會一格一格往下流），有出生、長大變老（ageing，參數叫 ξ）、I 進展到 A 的速率 γ（音 gamma，從感染到發病的進展率）、AIDS 死亡 α（音 alpha）。</a:t>
            </a:r>
          </a:p>
          <a:p/>
          <a:p>
            <a:r>
              <a:t>最關鍵的是 force of infection（感染力，也就是一個易感者單位時間內被感染的機率）。HIV 是 frequency-dependent（看比例、不看絕對人數）：重要的不是感染者的絕對數量，而是在你可能的性伴侶裡，有多少「比例」是感染者，所以是 I 除以 (S+I)。注意 A 不在分母，因為我們假設臨床 AIDS 的人不再有性行為——這個細節等下會很重要。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這是課本 Table 15.2 的關鍵參數。我點一件事：傳染機率是不對稱的。男傳女的 β（音 beta，每一段性關係把病傳出去的機率）是 0.20，女傳男只有 0.075，差約 2.7 倍。這是異性戀 HIV 的標準生物特性，也就是為什麼 baseline（基準情境）裡女性的 equilibrium prevalence（平衡盛行率，疫情穩定後感染者佔比的水準）比男性高。</a:t>
            </a:r>
          </a:p>
          <a:p/>
          <a:p>
            <a:r>
              <a:t>人口結構兩個重點：出生只由 age-2 女性產生、加上發展中國家生育率高，所以前期人口會成長。另外有一條 perinatal route（母嬰垂直傳染，懷孕生產時母親傳給嬰兒），參數 ϑ 等於 0.35，感染的母親可能生出已感染的新生兒——這條路徑疫苗擋不住，講 threshold（門檻）時會再提。初始人口 N(0) 是 8005 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接下來兩張，是讓模型跑出課本那種行為，我必須做的兩個判斷。</a:t>
            </a:r>
          </a:p>
          <a:p/>
          <a:p>
            <a:r>
              <a:t>第一個是進展率 γ（從感染到發病的速率）。這裡會用到 R₀（音 R-nought，基本繁殖數，一個感染者平均會傳染給幾個人；大於 1 疫情才會擴散）。R₀ 公式是 c 乘根號 (β_mf × β_fm) 除以 (μ+γ)，其中 μ 是 mu、自然死亡率。課本 Table 15.2 給 γ 等於 1.16，代表 HIV 到發病平均只有 0.85 年、不到一年，這跟課本自己講的「1 到 10 年」矛盾；而且代進去 R₀ 只有 0.24、小於 1，疫情起不來——我實際模擬，一開始放進去的少數感染者直接消失，跟課本 Fig 15.5「HIV 持續存在」完全相反。</a:t>
            </a:r>
          </a:p>
          <a:p/>
          <a:p>
            <a:r>
              <a:t>所以我改用 γ 等於 0.1，平均感染期約 8.1 年，落在課本範圍內。這時 R₀ 約 2.35、大於 1，疫情就會擴散開來，跟課本圖一致。對應的 herd-immunity threshold（群體免疫門檻，要有多少比例的人受保護，疫情才壓得下去）p_c 是 1 減 1/R₀，約 0.574。右邊就是修正後的 baseline：HIV 持續存在、女性 prevalence（盛行率，感染者佔比）高於男性。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第二個判斷是一開始的感染者要放在哪一格。Table 15.2 放 5 個 AIDS 男性、也就是 A_{m2} 等於 5，但 A 不在 force of infection（感染力）的算式裡，這 5 個人傳不出去、只會進展、死亡，疫情永遠不會開始，模擬出來 incidence（新增感染，每年新感染的人數）剛好是零。最小的修正，就是改成放 5 個會傳染的男性、也就是 I_{m2} 等於 5。</a:t>
            </a:r>
          </a:p>
          <a:p/>
          <a:p>
            <a:r>
              <a:t>做完這兩個修正，baseline 就重現課本 Fig 15.5a：女性 prevalence 約 0.77、男性約 0.61，順序對、HIV 持續存在。</a:t>
            </a:r>
          </a:p>
          <a:p/>
          <a:p>
            <a:r>
              <a:t>右邊是 condom scenario（推廣保險套的情境），跟課本一樣把兩個 β 都減半。因為 R₀ 正比於根號 β，減半讓 R₀ 變成 1.17，只比門檻高一點點，prevalence 就崩掉。這就是 near-threshold（接近門檻）的敏感性：在 1 附近，小調整就讓結果差很多。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現在加疫苗。</a:t>
            </a:r>
          </a:p>
          <a:p/>
          <a:p>
            <a:r>
              <a:t>我加兩個 protected compartment（受保護艙，放打了疫苗、目前受保護的人），叫 P_{f2} 跟 P_{m2}，只在 age 2。易感者以每人每年的速率 ν 被接種、移進 P；保護力會隨時間衰退（waning，保護力不是永久的），衰退率叫 l（音 ell），衰退後回到 S，整體是一個 S 到 P、再回到 S 的循環。疫苗型態是 take／all-or-nothing（全有全無型：要嘛完全保護、要嘛完全沒保護）：在 P 裡的人就是完全受保護。專案標準值是 ν 等於 0.65、l 等於 0.1。</a:t>
            </a:r>
          </a:p>
          <a:p/>
          <a:p>
            <a:r>
              <a:t>這裡有個算出來的上限叫 waning ceiling（保護上限，因為保護力會衰退，受保護的人撐不過某個比例）：P 佔 (S+P) 的比例最多到 ν/(ν+l)，也就是 0.65/0.75、約 0.87。任何時刻最多約 87% 的人受保護。成本就邊跑邊把錢加起來，dV/dt 等於 ν 乘上兩性 age-2 易感者，每劑 10 美元。</a:t>
            </a:r>
          </a:p>
          <a:p/>
          <a:p>
            <a:r>
              <a:t>最關鍵的慣例在最後一點：受保護的人沒被感染，但他們還是有性行為、還是別人的性伴侶，只是自己不會被傳染，所以要留在分母裡，感染力變成 I 除以 (S+I+P)。把易感者移進 P 會稀釋掉感染者的比例——這個稀釋，正是 herd immunity（群體免疫）的機制。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第一題：疫苗會不會讓疫情先到高峰、再下降？答案比「高峰再下降」還強。</a:t>
            </a:r>
          </a:p>
          <a:p/>
          <a:p>
            <a:r>
              <a:t>因為實際做得到的 protected fraction（受保護比例）0.87 高過門檻 0.574，所以 R_eff（音 R-eff，有效繁殖數，在有疫苗等介入之後、一個感染者實際會傳給幾個人）約等於 R₀ 乘 (1 − 0.867)、約 0.31、小於 1，疫情根本起不來。</a:t>
            </a:r>
          </a:p>
          <a:p/>
          <a:p>
            <a:r>
              <a:t>看左邊 incidence（新增感染）圖。打疫苗那條最高點就在 t 等於 0，那只是一開始 5 個男性傳給少數人，之後就一路往下、掉到接近零。對比 baseline，它衝到每年約 791 個新感染、在第 48 年左右到高峰，而且維持很高。這個下降不是瞬間的，因為原本的 I 跟 A 還要花八到十年才會進展、死亡；但 R_eff 小於 1、沒有新傳染補進來，病毒就被清掉。同時 protected fraction 飽和在約 0.85，剛好在 0.867 上限下一點點，符合這種「會保護、但保護力會衰退」疫苗的穩態。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第二題是成本。</a:t>
            </a:r>
          </a:p>
          <a:p/>
          <a:p>
            <a:r>
              <a:t>把每劑疫苗的錢邊跑邊加起來，右邊表列了幾個時間點：20 年累積約 11 萬 4 千美元、30 年約 16 萬 2 千、50 年約 24 萬 7 千，大致線性成長。</a:t>
            </a:r>
          </a:p>
          <a:p/>
          <a:p>
            <a:r>
              <a:t>重點是 cost-effectiveness（成本效益，花的錢換到的效果）隨時間明顯變好。每避免一個感染的成本：20 年是 372 美元、30 年降到 102 美元、50 年只剩 18 美元。原因是早期 baseline 疫情還沒起來、能避免的感染少，所以看起來貴；等 baseline 加速、衝向每年 791 的高峰，疫苗這邊一直接近零，avoided infections（避免掉的感染數）增加得比成本快很多，單價就一路往下掉。</a:t>
            </a:r>
          </a:p>
          <a:p/>
          <a:p>
            <a:r>
              <a:t>30 年的 102 美元落在 Stover 跟 Garnett 2002 報告的範圍裡，算合理。疫情壓平之後，疫苗還是要因為保護力衰退、加上新人長大，持續以約每年 407 劑、約 4070 美元幫人補打。要強調一點：這是很小的合成（虛構）人口，能搬到別處用的指標是「每避免一個感染的成本」，不是總金額。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第三題：最佳接種率。先講 epidemiological threshold（從疫情控制角度看的門檻），也就是最小、剛好能把 R_eff 壓到 1 以下的接種率，我叫它 ν_c。</a:t>
            </a:r>
          </a:p>
          <a:p/>
          <a:p>
            <a:r>
              <a:t>條件是穩態下的 protected fraction、也就是 ν/(ν+l)，要大於等於群體免疫門檻 p_c。它的公式解是 ν_c 等於 l 乘 p_c 除以 (1 − p_c)、約 0.135。但這只是一個下限，因為它忽略了兩件事：perinatal（母嬰垂直傳染）那條疫苗擋不住的路徑，以及死亡率也會作用在受保護的 P 上。</a:t>
            </a:r>
          </a:p>
          <a:p/>
          <a:p>
            <a:r>
              <a:t>所以我直接用模擬去測疫情會不會擴散：在一個已經打過疫苗、沒有疾病的人口裡，丟一點感染進去，看疫情早期的成長率 r 在哪個 ν 剛好穿過零、也就是 R_eff 等於 1。模擬出來 ν_c 約 0.366，右邊就是剛好穿過 1 的那個點。標準的 ν 等於 0.65 舒服地在它上面，確實能控制疫情。</a:t>
            </a:r>
          </a:p>
          <a:p/>
          <a:p>
            <a:r>
              <a:t>一點提醒：如果錯誤地把 P 排除在分母外，這個門檻會整個消失。但那是分母怎麼算造成的人為假象、不是真實結果，所以我把這個對照也畫進去了。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這張一樣是第三題，但「最佳」有兩個合理的意思，我兩個都報。前一張是從疫情控制角度（epidemiological）看的，這張是從成本效益（cost-effective）看的。</a:t>
            </a:r>
          </a:p>
          <a:p/>
          <a:p>
            <a:r>
              <a:t>關鍵在 avoided infections（避免掉的感染數）超過 ν_c 之後會飽和。在 ν_c 以下，每多一點 ν 都能多避免很多感染；一旦超過 ν_c，大約 13400 個可避免的感染幾乎都已經避免掉了，再加大接種只是重複幫保護力衰退的人補打、效益很低。</a:t>
            </a:r>
          </a:p>
          <a:p/>
          <a:p>
            <a:r>
              <a:t>所以這裡有個 diminishing-returns（邊際效益遞減）的膝點，也就是再加下去就不太划算的那個轉折點。能抓到 99% 最大避免量的最小 ν 約 0.175，那邊邊際成本約每個感染 122 美元。標準的 ν 等於 0.65 雖然能控制疫情，但相對於這個膝點其實打多了。這就是從疫情控制看的最佳、跟從成本效益看的最佳，答案不一樣的原因。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最後一題：疫苗跟保險套哪個比較會控制疫情？</a:t>
            </a:r>
          </a:p>
          <a:p/>
          <a:p>
            <a:r>
              <a:t>兩個都能控制。疫苗把 R_eff 壓到 0.31、嚴格小於 1；保險套把 R₀ 降到 1.17、還稍微在 1 上面，也就是把 β 減半還差一點點才跨過門檻，但疫情已經慢到在我們看的時間範圍內等於被控制。</a:t>
            </a:r>
          </a:p>
          <a:p/>
          <a:p>
            <a:r>
              <a:t>避免掉的感染數兩者幾乎一樣。總共 31235 個感染，疫苗避免 31224、保險套避免 30857。疫苗稍微領先，因為它讓 R_eff 嚴格小於 1、只殘留 11 個感染；保險套殘留 378 個。</a:t>
            </a:r>
          </a:p>
          <a:p/>
          <a:p>
            <a:r>
              <a:t>真正差很多的是成本怎麼算。疫苗有明確的 34 萬 8618 美元，而且因為保護力會衰退（waning ceiling），要無限期幫人補打。保險套被當成永久把 R₀ 砍半、而且沒有定價——但「沒定價」不等於「免費」，真實的行為改變計畫也有預算，只是這專案沒給。再加上接近門檻（near-threshold）很敏感，兩邊結論都對 R₀ 很敏感。結論：在疫情結果上接近平手，疫苗因為嚴格跨過門檻稍微領先；但以目前的定價方式，兩者不能直接比成本。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把結論收一下。</a:t>
            </a:r>
          </a:p>
          <a:p/>
          <a:p>
            <a:r>
              <a:t>第一，ν 等於 0.65 的疫苗能控制疫情：R_eff 約 0.31、小於 1，疫情起不來，prevalence 維持接近零，而不是 baseline 那個約 0.41 的 endemic plateau（地方性流行的高原期，疫情穩定維持在某個高水準下不來）。</a:t>
            </a:r>
          </a:p>
          <a:p/>
          <a:p>
            <a:r>
              <a:t>第二，它具成本效益：30 年時每避免一個感染約 102 美元，落在已發表的 Garnett／Stover 範圍裡。</a:t>
            </a:r>
          </a:p>
          <a:p/>
          <a:p>
            <a:r>
              <a:t>第三，存在一個有限的最佳值：從疫情控制看的門檻 ν_c 約 0.37、從成本效益看的膝點約 0.18，所以標準的 0.65 其實打得稍微多了一點。</a:t>
            </a:r>
          </a:p>
          <a:p/>
          <a:p>
            <a:r>
              <a:t>第四，疫苗跟保險套在結果上差不多，疫苗嚴格跨過門檻，但以目前的定價方式不能直接比成本。回到一開始的問題——打疫苗確實能讓疫情往下走，而且划算。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最後，這些結論有幾個前提，我列一下。</a:t>
            </a:r>
          </a:p>
          <a:p/>
          <a:p>
            <a:r>
              <a:t>第一，γ 從 1.16 改成 0.1 是為了讓疫情起得來，它會移動整個絕對水準。第二，接近門檻時很敏感：保險套讓 R₀ 停在 1.17，小小的校準改變就會讓最後穩定的感染水準變很多。第三，「把受保護的人留在性伴侶池、也就是放進分母」這個慣例是關鍵中的關鍵，它正是疫苗群體免疫效果的來源。第四，人口很小、是虛構的，N₀ 只有 8005，所以金額是示意性的，要用每個感染的成本來看。第五，我只測單一操作點 ν 等於 0.65、l 等於 0.1，並把 ν 當成固定速率，這是對 Garnett／Stover 覆蓋率情境的簡化。</a:t>
            </a:r>
          </a:p>
          <a:p/>
          <a:p>
            <a:r>
              <a:t>換句話說，所有結論都是有條件的。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以上就是我的報告，謝謝大家，歡迎提問。</a:t>
            </a:r>
          </a:p>
          <a:p/>
          <a:p>
            <a:r>
              <a:t>需要的話，這幾個常數可以幫我快速回答：R₀（基本繁殖數）是 2.35、p_c（群體免疫門檻）是 0.574、waning ceiling（保護上限）0.87、ν_c（臨界接種率）約 0.37、ν 等於 0.65 時 R_eff（有效繁殖數）是 0.31。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A6473"/>
                </a:solidFill>
                <a:latin typeface="Archivo"/>
              </a:rPr>
              <a:t>T E R M   P R O J E C T   ·   P A R T   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200" b="1" i="0">
                <a:solidFill>
                  <a:srgbClr val="14181F"/>
                </a:solidFill>
                <a:latin typeface="Archivo"/>
              </a:rPr>
              <a:t>HIV Vaccination on the
sIC AIDS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310128"/>
            <a:ext cx="2194560" cy="508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611880"/>
            <a:ext cx="8686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5A6473"/>
                </a:solidFill>
                <a:latin typeface="Nunito Sans"/>
              </a:rPr>
              <a:t>A compartment-model study of epidemic control, cost, and intervention choice.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074920"/>
            <a:ext cx="11185855" cy="12700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285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5484D"/>
                </a:solidFill>
                <a:latin typeface="Archivo"/>
              </a:rPr>
              <a:t>A u t h o 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55955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4181F"/>
                </a:solidFill>
                <a:latin typeface="Nunito Sans"/>
              </a:rPr>
              <a:t>李傳漢 · Chuan-Han 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070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A6473"/>
                </a:solidFill>
                <a:latin typeface="Nunito Sans"/>
              </a:rPr>
              <a:t>B11611027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528523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5484D"/>
                </a:solidFill>
                <a:latin typeface="Archivo"/>
              </a:rPr>
              <a:t>C o u r s 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55595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4181F"/>
                </a:solidFill>
                <a:latin typeface="Nunito Sans"/>
              </a:rPr>
              <a:t>BME5113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5907024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A6473"/>
                </a:solidFill>
                <a:latin typeface="Nunito Sans"/>
              </a:rPr>
              <a:t>Biological Systems Modeling &amp;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M O T I V A T I O N   ·   F O U R   Q U E S T I O N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100" b="1" i="0">
                <a:solidFill>
                  <a:srgbClr val="14181F"/>
                </a:solidFill>
                <a:latin typeface="Archivo"/>
              </a:rPr>
              <a:t>Can a vaccine bend an endemic epidemic?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02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8100" cy="86868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783080"/>
            <a:ext cx="11039551" cy="868680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I D E A</a:t>
            </a:r>
          </a:p>
          <a:p>
            <a:pPr>
              <a:lnSpc>
                <a:spcPct val="118000"/>
              </a:lnSpc>
            </a:pPr>
            <a:r>
              <a:rPr sz="1600" b="1">
                <a:solidFill>
                  <a:srgbClr val="14181F"/>
                </a:solidFill>
                <a:latin typeface="Nunito Sans"/>
              </a:rPr>
              <a:t>In this model HIV is S → I → AIDS with births, so the infection persists endemically — it never burns out on its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80360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880360"/>
            <a:ext cx="5464911" cy="381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304495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044952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Will a vaccine make the epidemic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peak then decline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863" y="2880360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3863" y="2880360"/>
            <a:ext cx="5464911" cy="381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5031" y="304495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2543" y="3044952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What does the vaccination program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cost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713732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713732"/>
            <a:ext cx="5464911" cy="381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878324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878324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What is the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optimum vaccination rate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23863" y="4713732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23863" y="4713732"/>
            <a:ext cx="5464911" cy="38100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5031" y="4878324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2543" y="4878324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Vaccination vs.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safe-sex / condoms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 — which controls it better?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S T R U C T U R E   ·   1 2   C O M P A R T M E N T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The sIC model: {S, I, AIDS} × sex × 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03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F · 0–15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805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F · 16+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9371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M · 0–15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8937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M · 16+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48840"/>
            <a:ext cx="1371600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473"/>
                </a:solidFill>
                <a:latin typeface="Archivo"/>
              </a:rPr>
              <a:t>class \ group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24328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6473"/>
                </a:solidFill>
                <a:latin typeface="Archivo"/>
              </a:rPr>
              <a:t>Susceptible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805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Sf2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9371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Sm1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8937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Sm2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429000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6473"/>
                </a:solidFill>
                <a:latin typeface="Archivo"/>
              </a:rPr>
              <a:t>Infected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If1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805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If2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9371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Im1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8937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Im2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23367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6473"/>
                </a:solidFill>
                <a:latin typeface="Archivo"/>
              </a:rPr>
              <a:t>AIDS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20240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Af1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805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Af2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9371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Am1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28937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Am2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93208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202936"/>
            <a:ext cx="111858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4181F"/>
                </a:solidFill>
                <a:latin typeface="Archivo"/>
              </a:rPr>
              <a:t>λ = c · β · I / (S+I)</a:t>
            </a:r>
            <a:r>
              <a:rPr sz="1300">
                <a:solidFill>
                  <a:srgbClr val="5A6473"/>
                </a:solidFill>
                <a:latin typeface="Nunito Sans"/>
              </a:rPr>
              <a:t>    frequency-dependent force of infection</a:t>
            </a:r>
          </a:p>
          <a:p>
            <a:pPr>
              <a:lnSpc>
                <a:spcPct val="125000"/>
              </a:lnSpc>
            </a:pPr>
            <a:r>
              <a:rPr sz="1300">
                <a:solidFill>
                  <a:srgbClr val="5A6473"/>
                </a:solidFill>
                <a:latin typeface="Nunito Sans"/>
              </a:rPr>
              <a:t>births · ageing ξ · HIV→AIDS progression γ · AIDS mortality α · natural mortality 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T A B L E   1 5 . 2   ·   W H Y   I T   P E R S I S T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100" b="1" i="0">
                <a:solidFill>
                  <a:srgbClr val="14181F"/>
                </a:solidFill>
                <a:latin typeface="Archivo"/>
              </a:rPr>
              <a:t>Parameters &amp; the endemic plateau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04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0.20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βmf male→female transmission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0324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08340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E5484D"/>
                </a:solidFill>
                <a:latin typeface="Archivo"/>
              </a:rPr>
              <a:t>0.075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8340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βfm female→male transmission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57729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5745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2.35/yr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5745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c partner-change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35133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3149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0.0227/yr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3149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μ natural mortality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2538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0554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1.0/yr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40554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α extra AIDS mortality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611880"/>
            <a:ext cx="38100" cy="13716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3611880"/>
            <a:ext cx="11039551" cy="1371600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I D E A</a:t>
            </a:r>
          </a:p>
          <a:p>
            <a:pPr>
              <a:lnSpc>
                <a:spcPct val="118000"/>
              </a:lnSpc>
            </a:pPr>
            <a:r>
              <a:rPr sz="1700" b="1">
                <a:solidFill>
                  <a:srgbClr val="14181F"/>
                </a:solidFill>
                <a:latin typeface="Nunito Sans"/>
              </a:rPr>
              <a:t>Transmission is asymmetric (βmf &gt; βfm) so women are infected more — and births continually refill susceptibles, driving an endemic plateau rather than burnout.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05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M O D E L I N G   J U D G M E N T   1   ·   T H E   R A T E   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Recalibrating HIV→AIDS progression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05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erify_baseline_preval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49924"/>
            <a:ext cx="5425135" cy="3327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Baseline prevalence — growth to an endemic plateau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500" b="1">
                <a:solidFill>
                  <a:srgbClr val="14181F"/>
                </a:solidFill>
                <a:latin typeface="Nunito Sans"/>
              </a:rPr>
              <a:t>A corrected, biologically grounded γ is required for the model to behave like a real epidemic.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145536"/>
            <a:ext cx="5138928" cy="457200"/>
          </a:xfrm>
          <a:prstGeom prst="rect">
            <a:avLst/>
          </a:prstGeom>
          <a:solidFill>
            <a:srgbClr val="F8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145536"/>
            <a:ext cx="5138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50" b="1" i="0">
                <a:solidFill>
                  <a:srgbClr val="14181F"/>
                </a:solidFill>
                <a:latin typeface="Nunito Sans"/>
              </a:rPr>
              <a:t>R₀ = c · √(β_mf · β_fm) / (μ + γ)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749040"/>
            <a:ext cx="5138928" cy="2542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E5484D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The textbook's literal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γ = 1.16/yr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means HIV→AIDS in under a year →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R₀ = 0.24 &lt; 1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→ no epidemic.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Biologically, HIV→AIDS takes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~8–10 years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We use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γ = 0.1/yr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→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R₀ ≈ 2.35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06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V A L I D A T I O N   ·   F I G .   1 5 . 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Calibrated against the published sIC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06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erify_condom_preval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49924"/>
            <a:ext cx="5425135" cy="3327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Baseline vs. condom scenario prevalence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500" b="1">
                <a:solidFill>
                  <a:srgbClr val="14181F"/>
                </a:solidFill>
                <a:latin typeface="Nunito Sans"/>
              </a:rPr>
              <a:t>The model is calibrated and behaves like the published sIC model before we add a vaccine.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Baseline reproduces the textbook: growth to a high endemic plateau.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Female prevalence (</a:t>
            </a:r>
            <a:r>
              <a:rPr sz="1500" b="1">
                <a:solidFill>
                  <a:srgbClr val="14181F"/>
                </a:solidFill>
                <a:latin typeface="Nunito Sans"/>
              </a:rPr>
              <a:t>0.77</a:t>
            </a:r>
            <a:r>
              <a:rPr sz="1500" b="0">
                <a:solidFill>
                  <a:srgbClr val="5A6473"/>
                </a:solidFill>
                <a:latin typeface="Nunito Sans"/>
              </a:rPr>
              <a:t>) above male (</a:t>
            </a:r>
            <a:r>
              <a:rPr sz="1500" b="1">
                <a:solidFill>
                  <a:srgbClr val="14181F"/>
                </a:solidFill>
                <a:latin typeface="Nunito Sans"/>
              </a:rPr>
              <a:t>0.62</a:t>
            </a:r>
            <a:r>
              <a:rPr sz="1500" b="0">
                <a:solidFill>
                  <a:srgbClr val="5A6473"/>
                </a:solidFill>
                <a:latin typeface="Nunito Sans"/>
              </a:rPr>
              <a:t>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2E8B57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Condom scenario (halving both β) sharply suppresses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07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M O D E L   E X T E N S I O N   ·   P R O T E C T E D   C O M P A R T M E N T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A “take”-with-waning vaccine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07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a_protected_fra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36123"/>
            <a:ext cx="5425135" cy="335501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Protected fraction → waning ceiling 0.87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450" b="1">
                <a:solidFill>
                  <a:srgbClr val="14181F"/>
                </a:solidFill>
                <a:latin typeface="Nunito Sans"/>
              </a:rPr>
              <a:t>Protected people stay in the partner pool, so vaccination dilutes the infected fraction — this is what produces herd immunity.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Add protected adults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Pf2, Pm2</a:t>
            </a:r>
            <a:r>
              <a:rPr sz="1400" b="0">
                <a:solidFill>
                  <a:srgbClr val="5A6473"/>
                </a:solidFill>
                <a:latin typeface="Nunito Sans"/>
              </a:rPr>
              <a:t>; vaccinate susceptible adults at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ν = 0.65/yr</a:t>
            </a:r>
            <a:r>
              <a:rPr sz="1400" b="0">
                <a:solidFill>
                  <a:srgbClr val="5A6473"/>
                </a:solidFill>
                <a:latin typeface="Nunito Sans"/>
              </a:rPr>
              <a:t> (≈ Garnett 2002 “65% coverage”).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Protection wanes at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l = 0.1/yr</a:t>
            </a:r>
            <a:r>
              <a:rPr sz="1400" b="0">
                <a:solidFill>
                  <a:srgbClr val="5A6473"/>
                </a:solidFill>
                <a:latin typeface="Nunito Sans"/>
              </a:rPr>
              <a:t> (≈ 10-year mean).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Ceiling: at most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ν/(ν+l) = 0.87</a:t>
            </a:r>
            <a:r>
              <a:rPr sz="1400" b="0">
                <a:solidFill>
                  <a:srgbClr val="5A6473"/>
                </a:solidFill>
                <a:latin typeface="Nunito Sans"/>
              </a:rPr>
              <a:t> of adults are ever protected.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Cost tracked via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dV/dt = ν(Sf2+Sm2)</a:t>
            </a:r>
            <a:r>
              <a:rPr sz="140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08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A )   ·   P E A K   &amp;   D E C L I N 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4181F"/>
                </a:solidFill>
                <a:latin typeface="Archivo"/>
              </a:rPr>
              <a:t>Does the vaccine make it peak then decline?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08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a_inc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36123"/>
            <a:ext cx="5425135" cy="335501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HIV incidence: baseline peak vs. vaccinated decline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A N S W E R</a:t>
            </a:r>
          </a:p>
          <a:p>
            <a:pPr>
              <a:lnSpc>
                <a:spcPct val="118000"/>
              </a:lnSpc>
            </a:pPr>
            <a:r>
              <a:rPr sz="1500" b="1">
                <a:solidFill>
                  <a:srgbClr val="14181F"/>
                </a:solidFill>
                <a:latin typeface="Nunito Sans"/>
              </a:rPr>
              <a:t>Yes — vaccination turns sustained growth into immediate decline.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Under ν = 0.65, the effective reproduction number drops to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R_eff ≈ 0.31 &lt; 1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HIV incidence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declines from the very start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The untreated baseline instead peaks at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791 new infections/yr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around year 48.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B )   ·   P R O G R A M   C O S 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What does it cost?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09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b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271" y="2116836"/>
            <a:ext cx="3787840" cy="35935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Cumulative cost &amp; cost per infection averted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450" b="1">
                <a:solidFill>
                  <a:srgbClr val="14181F"/>
                </a:solidFill>
                <a:latin typeface="Nunito Sans"/>
              </a:rPr>
              <a:t>Cost-per-infection-averted is the transferable metric — absolute $ scale with this small synthetic population.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At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$10 per vaccination</a:t>
            </a:r>
            <a:r>
              <a:rPr sz="1450" b="0">
                <a:solidFill>
                  <a:srgbClr val="5A6473"/>
                </a:solidFill>
                <a:latin typeface="Nunito Sans"/>
              </a:rPr>
              <a:t>: cumulative cost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 $162k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by year 30 (≈ $4,070/yr at steady state).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About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$102 per infection averted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at 30 years.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Within the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$110–390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range of the Imperial-College / Stover analyses.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C )   ·   T H E   C R I T I C A L   R A T 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4181F"/>
                </a:solidFill>
                <a:latin typeface="Archivo"/>
              </a:rPr>
              <a:t>Optimum rate — the elimination threshold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10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c_prevalence_vs_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18277"/>
            <a:ext cx="5425135" cy="33907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Steady-state prevalence vs. vaccination rate 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304288"/>
            <a:ext cx="5138928" cy="3895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300" b="1">
                <a:solidFill>
                  <a:srgbClr val="E5484D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A critical rate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νc ≈ 0.37/yr</a:t>
            </a:r>
            <a:r>
              <a:rPr sz="1500" b="0">
                <a:solidFill>
                  <a:srgbClr val="5A6473"/>
                </a:solidFill>
                <a:latin typeface="Nunito Sans"/>
              </a:rPr>
              <a:t> drives the epidemic to elimination above it.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Matches herd immunity: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νc = l·pc/(1−pc)</a:t>
            </a:r>
            <a:r>
              <a:rPr sz="1500" b="0">
                <a:solidFill>
                  <a:srgbClr val="5A6473"/>
                </a:solidFill>
                <a:latin typeface="Nunito Sans"/>
              </a:rPr>
              <a:t> with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pc = 1 − 1/R₀ ≈ 0.574</a:t>
            </a:r>
            <a:r>
              <a:rPr sz="150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The standard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 = 0.65</a:t>
            </a:r>
            <a:r>
              <a:rPr sz="1500" b="0">
                <a:solidFill>
                  <a:srgbClr val="5A6473"/>
                </a:solidFill>
                <a:latin typeface="Nunito Sans"/>
              </a:rPr>
              <a:t> sits comfortably above νc.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C )   ·   T W O   O P T I M U M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4181F"/>
                </a:solidFill>
                <a:latin typeface="Archivo"/>
              </a:rPr>
              <a:t>Optimum rate — best value vs. elimination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11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c_cost_effective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18277"/>
            <a:ext cx="5425135" cy="33907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Cost-effectiveness — the value knee at ν ≈ 0.18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550" b="1">
                <a:solidFill>
                  <a:srgbClr val="14181F"/>
                </a:solidFill>
                <a:latin typeface="Nunito Sans"/>
              </a:rPr>
              <a:t>“Control the epidemic” and “best value for money” are not the same target.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E5484D"/>
                </a:solidFill>
                <a:latin typeface="Nunito Sans"/>
              </a:rPr>
              <a:t>▪ 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Epidemiological optimum: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eliminate the epidemic, ν ≥ νc.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Cost-effective optimum: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best value — a diminishing-returns knee near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 ≈ 0.18/yr</a:t>
            </a:r>
            <a:r>
              <a:rPr sz="150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D )   ·   V A C C I N A T I O N   V S .   C O N D O M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Which controls it better?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12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d_averted_and_re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725269"/>
            <a:ext cx="5425135" cy="23767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Infections averted &amp; R_eff by strategy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450" b="1">
                <a:solidFill>
                  <a:srgbClr val="14181F"/>
                </a:solidFill>
                <a:latin typeface="Nunito Sans"/>
              </a:rPr>
              <a:t>Essentially a tie on epidemiological outcome; they differ on cost basis and the vaccine's waning ceiling — no single winner is claimed.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Vaccination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(ν=0.65) → R_eff=0.31, averts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≈31,224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infections, explicit cost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≈$349k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2E8B57"/>
                </a:solidFill>
                <a:latin typeface="Nunito Sans"/>
              </a:rPr>
              <a:t>▪ 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Condoms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(halving β) → R₀=1.17 (just above threshold), averts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≈30,857</a:t>
            </a:r>
            <a:r>
              <a:rPr sz="1450" b="0">
                <a:solidFill>
                  <a:srgbClr val="5A6473"/>
                </a:solidFill>
                <a:latin typeface="Nunito Sans"/>
              </a:rPr>
              <a:t>, no priced cost here.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S Y N T H E S I S   ·   W H A T   W E   L E A R N E 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1" i="0">
                <a:solidFill>
                  <a:srgbClr val="14181F"/>
                </a:solidFill>
                <a:latin typeface="Archivo"/>
              </a:rPr>
              <a:t>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13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97989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62456" y="2057400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A waning vaccine at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ν=0.65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drives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R_eff &lt; 1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and makes the epidemic decline.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02127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62456" y="3161538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It is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cost-effective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— about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$102 per infection averted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06265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4265676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It is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comparable to condom promotion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on epidemiological outcome.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510403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2456" y="5369814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Conclusions hold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above the herd-immunity threshold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νc ≈ 0.37/yr.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H O N E S T Y   ·   W H A T   T O   D I S T R U S 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1" i="0">
                <a:solidFill>
                  <a:srgbClr val="14181F"/>
                </a:solidFill>
                <a:latin typeface="Archivo"/>
              </a:rPr>
              <a:t>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14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57400"/>
            <a:ext cx="11185855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γ recalibrated</a:t>
            </a:r>
            <a:r>
              <a:rPr sz="1800" b="0">
                <a:solidFill>
                  <a:srgbClr val="5A6473"/>
                </a:solidFill>
                <a:latin typeface="Nunito Sans"/>
              </a:rPr>
              <a:t> from the implausible literal textbook value.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800" b="0">
                <a:solidFill>
                  <a:srgbClr val="5A6473"/>
                </a:solidFill>
                <a:latin typeface="Nunito Sans"/>
              </a:rPr>
              <a:t>Results are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sensitive near the R₀ threshold</a:t>
            </a:r>
            <a:r>
              <a:rPr sz="1800" b="0">
                <a:solidFill>
                  <a:srgbClr val="5A6473"/>
                </a:solidFill>
                <a:latin typeface="Nunito Sans"/>
              </a:rPr>
              <a:t>, so condoms vs. vaccine is a close call.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Small synthetic population</a:t>
            </a:r>
            <a:r>
              <a:rPr sz="1800" b="0">
                <a:solidFill>
                  <a:srgbClr val="5A6473"/>
                </a:solidFill>
                <a:latin typeface="Nunito Sans"/>
              </a:rPr>
              <a:t> — use cost-per-infection-averted, not absolute $.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800" b="0">
                <a:solidFill>
                  <a:srgbClr val="5A6473"/>
                </a:solidFill>
                <a:latin typeface="Nunito Sans"/>
              </a:rPr>
              <a:t>A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single operating point</a:t>
            </a:r>
            <a:r>
              <a:rPr sz="1800" b="0">
                <a:solidFill>
                  <a:srgbClr val="5A6473"/>
                </a:solidFill>
                <a:latin typeface="Nunito Sans"/>
              </a:rPr>
              <a:t> was analysed, not a full sweep of every parameter.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2E8B57"/>
                </a:solidFill>
                <a:latin typeface="Nunito Sans"/>
              </a:rPr>
              <a:t>▪  </a:t>
            </a:r>
            <a:r>
              <a:rPr sz="1800" b="0">
                <a:solidFill>
                  <a:srgbClr val="5A6473"/>
                </a:solidFill>
                <a:latin typeface="Nunito Sans"/>
              </a:rPr>
              <a:t>The herd-immunity result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depends on keeping protected people in the partner pool</a:t>
            </a:r>
            <a:r>
              <a:rPr sz="180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15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P A R T   2   ·   T H E   E N 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1118585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600" b="1" i="0">
                <a:solidFill>
                  <a:srgbClr val="14181F"/>
                </a:solidFill>
                <a:latin typeface="Archivo"/>
              </a:rPr>
              <a:t>Thank you.
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4069080"/>
            <a:ext cx="6949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4069080"/>
            <a:ext cx="38100" cy="914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4069080"/>
            <a:ext cx="6675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</a:pPr>
            <a:r>
              <a:rPr sz="1700" b="1">
                <a:solidFill>
                  <a:srgbClr val="14181F"/>
                </a:solidFill>
                <a:latin typeface="Archivo"/>
              </a:rPr>
              <a:t>Recap: </a:t>
            </a:r>
            <a:r>
              <a:rPr sz="1700" b="1">
                <a:solidFill>
                  <a:srgbClr val="1F7A8C"/>
                </a:solidFill>
                <a:latin typeface="Archivo"/>
              </a:rPr>
              <a:t>R₀ ≈ 2.35</a:t>
            </a:r>
            <a:r>
              <a:rPr sz="1700" b="1">
                <a:solidFill>
                  <a:srgbClr val="14181F"/>
                </a:solidFill>
                <a:latin typeface="Archivo"/>
              </a:rPr>
              <a:t> → with </a:t>
            </a:r>
            <a:r>
              <a:rPr sz="1700" b="1">
                <a:solidFill>
                  <a:srgbClr val="1F7A8C"/>
                </a:solidFill>
                <a:latin typeface="Archivo"/>
              </a:rPr>
              <a:t>ν = 0.65</a:t>
            </a:r>
            <a:r>
              <a:rPr sz="1700" b="1">
                <a:solidFill>
                  <a:srgbClr val="14181F"/>
                </a:solidFill>
                <a:latin typeface="Archivo"/>
              </a:rPr>
              <a:t>, </a:t>
            </a:r>
            <a:r>
              <a:rPr sz="1700" b="1">
                <a:solidFill>
                  <a:srgbClr val="1F7A8C"/>
                </a:solidFill>
                <a:latin typeface="Archivo"/>
              </a:rPr>
              <a:t>R_eff ≈ 0.31 &lt; 1</a:t>
            </a:r>
            <a:r>
              <a:rPr sz="1700" b="1">
                <a:solidFill>
                  <a:srgbClr val="14181F"/>
                </a:solidFill>
                <a:latin typeface="Archivo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623560"/>
            <a:ext cx="11185855" cy="12700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78815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A6473"/>
                </a:solidFill>
                <a:latin typeface="Nunito Sans"/>
              </a:rPr>
              <a:t>李傳漢 (Chuan-Han Li) · B11611027  —  BME5113 Biological Systems Modeling &amp; Analysis · Term Project, Part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