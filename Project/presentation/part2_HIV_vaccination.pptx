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Part 2 of the term project: extend the sIC AIDS model with HIV vaccination and answer four questions — peak/decline, cost, optimum rate, vaccination vs condoms.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Motivation: four questions — (a) peak/decline, (b) cost, (c) optimum rate, (d) vaccination vs condoms — tested against one common baseline. HIV is S-&gt;I-&gt;AIDS with births, so it persists endemically.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compartments: S/I/AIDS disease classes crossed with sex (f/m) and two age groups (0-15, 16+). Force of infection is frequency-dependent, I/(S+I); AIDS class excluded from the partner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Parameters from Table 15.2. Transmission asymmetric: βmf 0.20 vs βfm 0.075, so female prevalence exceeds male. Births refill susceptibles, giving an endemic plateau rather than burnout.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Takeaways: vaccination at ν=0.65 drives R_eff&lt;1 and the epidemic declines; it is cost-effective (~$102/infection averted); comparable to condoms; conclusions hold above the herd-immunity threshold νc≈0.37.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Limitations: γ recalibrated; near-threshold sensitivity; small synthetic population (use $/infection averted); single operating point; herd immunity depends on protected people staying in the partner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Recap: R0≈2.35 → with ν=0.65, R_eff≈0.31&lt;1.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473"/>
                </a:solidFill>
                <a:latin typeface="Archivo"/>
              </a:rPr>
              <a:t>T E R M   P R O J E C T   ·   P A R T   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1" i="0">
                <a:solidFill>
                  <a:srgbClr val="14181F"/>
                </a:solidFill>
                <a:latin typeface="Archivo"/>
              </a:rPr>
              <a:t>HIV Vaccination on the
sIC AIDS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310128"/>
            <a:ext cx="2194560" cy="508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5A6473"/>
                </a:solidFill>
                <a:latin typeface="Nunito Sans"/>
              </a:rPr>
              <a:t>A compartment-model study of epidemic control, cost, and intervention choice.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74920"/>
            <a:ext cx="11185855" cy="12700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285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5484D"/>
                </a:solidFill>
                <a:latin typeface="Archivo"/>
              </a:rPr>
              <a:t>A u t h o 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59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Nunito Sans"/>
              </a:rPr>
              <a:t>李傳漢 · Chuan-Han 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070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6473"/>
                </a:solidFill>
                <a:latin typeface="Nunito Sans"/>
              </a:rPr>
              <a:t>B11611027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52852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5484D"/>
                </a:solidFill>
                <a:latin typeface="Archivo"/>
              </a:rPr>
              <a:t>C o u r s 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5595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181F"/>
                </a:solidFill>
                <a:latin typeface="Nunito Sans"/>
              </a:rPr>
              <a:t>BME5113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90702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6473"/>
                </a:solidFill>
                <a:latin typeface="Nunito Sans"/>
              </a:rPr>
              <a:t>Biological Systems Modeling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M O T I V A T I O N   ·   F O U R   Q U E S T I O N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14181F"/>
                </a:solidFill>
                <a:latin typeface="Archivo"/>
              </a:rPr>
              <a:t>Can a vaccine bend an endemic epidemic?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8100" cy="86868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3080"/>
            <a:ext cx="11039551" cy="868680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I D E A</a:t>
            </a:r>
          </a:p>
          <a:p>
            <a:pPr>
              <a:lnSpc>
                <a:spcPct val="118000"/>
              </a:lnSpc>
            </a:pPr>
            <a:r>
              <a:rPr sz="1600" b="1">
                <a:solidFill>
                  <a:srgbClr val="14181F"/>
                </a:solidFill>
                <a:latin typeface="Nunito Sans"/>
              </a:rPr>
              <a:t>In this model HIV is S → I → AIDS with births, so the infection persists endemically — it never burns out on its 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5464911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464911" cy="381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04495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44952"/>
            <a:ext cx="4413351" cy="1248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5A6473"/>
                </a:solidFill>
                <a:latin typeface="Nunito Sans"/>
              </a:rPr>
              <a:t>Will a vaccine make the epidemic </a:t>
            </a:r>
            <a:r>
              <a:rPr sz="1600" b="1" i="0">
                <a:solidFill>
                  <a:srgbClr val="14181F"/>
                </a:solidFill>
                <a:latin typeface="Nunito Sans"/>
              </a:rPr>
              <a:t>peak then decline</a:t>
            </a:r>
            <a:r>
              <a:rPr sz="1600" b="0" i="0">
                <a:solidFill>
                  <a:srgbClr val="5A6473"/>
                </a:solidFill>
                <a:latin typeface="Nunito Sans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2880360"/>
            <a:ext cx="5464911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3" y="2880360"/>
            <a:ext cx="5464911" cy="381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031" y="304495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2543" y="3044952"/>
            <a:ext cx="4413351" cy="1248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5A6473"/>
                </a:solidFill>
                <a:latin typeface="Nunito Sans"/>
              </a:rPr>
              <a:t>What does the vaccination program </a:t>
            </a:r>
            <a:r>
              <a:rPr sz="1600" b="1" i="0">
                <a:solidFill>
                  <a:srgbClr val="14181F"/>
                </a:solidFill>
                <a:latin typeface="Nunito Sans"/>
              </a:rPr>
              <a:t>cost</a:t>
            </a:r>
            <a:r>
              <a:rPr sz="1600" b="0" i="0">
                <a:solidFill>
                  <a:srgbClr val="5A6473"/>
                </a:solidFill>
                <a:latin typeface="Nunito San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13732"/>
            <a:ext cx="5464911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13732"/>
            <a:ext cx="5464911" cy="381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87832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78324"/>
            <a:ext cx="4413351" cy="1248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5A6473"/>
                </a:solidFill>
                <a:latin typeface="Nunito Sans"/>
              </a:rPr>
              <a:t>What is the </a:t>
            </a:r>
            <a:r>
              <a:rPr sz="1600" b="1" i="0">
                <a:solidFill>
                  <a:srgbClr val="14181F"/>
                </a:solidFill>
                <a:latin typeface="Nunito Sans"/>
              </a:rPr>
              <a:t>optimum vaccination rate</a:t>
            </a:r>
            <a:r>
              <a:rPr sz="1600" b="0" i="0">
                <a:solidFill>
                  <a:srgbClr val="5A6473"/>
                </a:solidFill>
                <a:latin typeface="Nunito Sans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3863" y="4713732"/>
            <a:ext cx="5464911" cy="15773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3863" y="4713732"/>
            <a:ext cx="5464911" cy="3810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5031" y="487832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2543" y="4878324"/>
            <a:ext cx="4413351" cy="1248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5A6473"/>
                </a:solidFill>
                <a:latin typeface="Nunito Sans"/>
              </a:rPr>
              <a:t>Vaccination vs. </a:t>
            </a:r>
            <a:r>
              <a:rPr sz="1600" b="1" i="0">
                <a:solidFill>
                  <a:srgbClr val="14181F"/>
                </a:solidFill>
                <a:latin typeface="Nunito Sans"/>
              </a:rPr>
              <a:t>safe-sex / condoms</a:t>
            </a:r>
            <a:r>
              <a:rPr sz="1600" b="0" i="0">
                <a:solidFill>
                  <a:srgbClr val="5A6473"/>
                </a:solidFill>
                <a:latin typeface="Nunito Sans"/>
              </a:rPr>
              <a:t> — which controls it better?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S T R U C T U R E   ·   1 2   C O M P A R T M E N T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The sIC model: {S, I, AIDS} × sex × 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2359837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181F"/>
                </a:solidFill>
                <a:latin typeface="Archivo"/>
              </a:rPr>
              <a:t>F · 0–15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805" y="2148840"/>
            <a:ext cx="2359837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181F"/>
                </a:solidFill>
                <a:latin typeface="Archivo"/>
              </a:rPr>
              <a:t>F · 16+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9371" y="2148840"/>
            <a:ext cx="2359837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181F"/>
                </a:solidFill>
                <a:latin typeface="Archivo"/>
              </a:rPr>
              <a:t>M · 0–15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8937" y="2148840"/>
            <a:ext cx="2359837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181F"/>
                </a:solidFill>
                <a:latin typeface="Archivo"/>
              </a:rPr>
              <a:t>M · 16+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40"/>
            <a:ext cx="1371600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473"/>
                </a:solidFill>
                <a:latin typeface="Archivo"/>
              </a:rPr>
              <a:t>class \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24328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473"/>
                </a:solidFill>
                <a:latin typeface="Archivo"/>
              </a:rPr>
              <a:t>Susceptible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624328"/>
            <a:ext cx="2359837" cy="658368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Sf1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805" y="2624328"/>
            <a:ext cx="2359837" cy="658368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Sf2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9371" y="2624328"/>
            <a:ext cx="2359837" cy="658368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Sm1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8937" y="2624328"/>
            <a:ext cx="2359837" cy="658368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Sm2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473"/>
                </a:solidFill>
                <a:latin typeface="Archivo"/>
              </a:rPr>
              <a:t>Infected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429000"/>
            <a:ext cx="2359837" cy="6583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If1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805" y="3429000"/>
            <a:ext cx="2359837" cy="6583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If2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9371" y="3429000"/>
            <a:ext cx="2359837" cy="6583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Im1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8937" y="3429000"/>
            <a:ext cx="2359837" cy="65836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Im2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3367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473"/>
                </a:solidFill>
                <a:latin typeface="Archivo"/>
              </a:rPr>
              <a:t>AIDS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233672"/>
            <a:ext cx="2359837" cy="65836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Af1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805" y="4233672"/>
            <a:ext cx="2359837" cy="65836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Af2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9371" y="4233672"/>
            <a:ext cx="2359837" cy="65836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Am1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8937" y="4233672"/>
            <a:ext cx="2359837" cy="65836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chivo"/>
              </a:rPr>
              <a:t>Am2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93208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02936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4181F"/>
                </a:solidFill>
                <a:latin typeface="Archivo"/>
              </a:rPr>
              <a:t>λ = c · β · I / (S+I)</a:t>
            </a:r>
            <a:r>
              <a:rPr sz="1300">
                <a:solidFill>
                  <a:srgbClr val="5A6473"/>
                </a:solidFill>
                <a:latin typeface="Nunito Sans"/>
              </a:rPr>
              <a:t>    frequency-dependent force of infection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5A6473"/>
                </a:solidFill>
                <a:latin typeface="Nunito Sans"/>
              </a:rPr>
              <a:t>births · ageing ξ · HIV→AIDS progression γ · AIDS mortality α · natural mortality 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T A B L E   1 5 . 2   ·   W H Y   I T   P E R S I S T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14181F"/>
                </a:solidFill>
                <a:latin typeface="Archivo"/>
              </a:rPr>
              <a:t>Parameters &amp; the endemic plateau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2076236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20823"/>
            <a:ext cx="18202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F7A8C"/>
                </a:solidFill>
                <a:latin typeface="Archivo"/>
              </a:rPr>
              <a:t>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587751"/>
            <a:ext cx="18202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473"/>
                </a:solidFill>
                <a:latin typeface="Nunito Sans"/>
              </a:rPr>
              <a:t>βmf male→female transmission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0324" y="1874519"/>
            <a:ext cx="2076236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8340" y="2020823"/>
            <a:ext cx="18202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E5484D"/>
                </a:solidFill>
                <a:latin typeface="Archivo"/>
              </a:rPr>
              <a:t>0.075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8340" y="2587751"/>
            <a:ext cx="18202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473"/>
                </a:solidFill>
                <a:latin typeface="Nunito Sans"/>
              </a:rPr>
              <a:t>βfm female→male transmission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7729" y="1874519"/>
            <a:ext cx="2076236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5745" y="2020823"/>
            <a:ext cx="18202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F7A8C"/>
                </a:solidFill>
                <a:latin typeface="Archivo"/>
              </a:rPr>
              <a:t>2.35/yr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5745" y="2587751"/>
            <a:ext cx="18202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473"/>
                </a:solidFill>
                <a:latin typeface="Nunito Sans"/>
              </a:rPr>
              <a:t>c partner-change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5133" y="1874519"/>
            <a:ext cx="2076236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3149" y="2020823"/>
            <a:ext cx="18202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F7A8C"/>
                </a:solidFill>
                <a:latin typeface="Archivo"/>
              </a:rPr>
              <a:t>0.0227/yr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3149" y="2587751"/>
            <a:ext cx="18202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473"/>
                </a:solidFill>
                <a:latin typeface="Nunito Sans"/>
              </a:rPr>
              <a:t>μ natural mortality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2538" y="1874519"/>
            <a:ext cx="2076236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0554" y="2020823"/>
            <a:ext cx="18202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F7A8C"/>
                </a:solidFill>
                <a:latin typeface="Archivo"/>
              </a:rPr>
              <a:t>1.0/yr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0554" y="2587751"/>
            <a:ext cx="18202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473"/>
                </a:solidFill>
                <a:latin typeface="Nunito Sans"/>
              </a:rPr>
              <a:t>α extra AIDS mortality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11880"/>
            <a:ext cx="38100" cy="13716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611880"/>
            <a:ext cx="11039551" cy="1371600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I D E A</a:t>
            </a:r>
          </a:p>
          <a:p>
            <a:pPr>
              <a:lnSpc>
                <a:spcPct val="118000"/>
              </a:lnSpc>
            </a:pPr>
            <a:r>
              <a:rPr sz="1700" b="1">
                <a:solidFill>
                  <a:srgbClr val="14181F"/>
                </a:solidFill>
                <a:latin typeface="Nunito Sans"/>
              </a:rPr>
              <a:t>Transmission is asymmetric (βmf &gt; βfm) so women are infected more — and births continually refill susceptibles, driving an endemic plateau rather than burnout.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M O D E L I N G   J U D G M E N T   1   ·   T H E   R A T E   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Recalibrating HIV→AIDS progression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ify_baseline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49924"/>
            <a:ext cx="5425135" cy="3327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Baseline prevalence — growth to an endemic plateau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4181F"/>
                </a:solidFill>
                <a:latin typeface="Nunito Sans"/>
              </a:rPr>
              <a:t>A corrected, biologically grounded γ is required for the model to behave like a real epidemic.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E5484D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The textbook's literal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γ = 1.16/yr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means HIV→AIDS in under a year →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R₀ = 0.24 &lt; 1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→ no epidemic.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8A94A6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Biologically, HIV→AIDS takes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~8–10 years</a:t>
            </a:r>
            <a:r>
              <a:rPr sz="1450" b="0">
                <a:solidFill>
                  <a:srgbClr val="5A6473"/>
                </a:solidFill>
                <a:latin typeface="Nunito Sans"/>
              </a:rPr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We use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γ = 0.1/yr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→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R₀ ≈ 2.35</a:t>
            </a:r>
            <a:r>
              <a:rPr sz="1450" b="0">
                <a:solidFill>
                  <a:srgbClr val="5A6473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V A L I D A T I O N   ·   F I G .   1 5 . 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Calibrated against the published sIC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ify_condom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49924"/>
            <a:ext cx="5425135" cy="3327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Baseline vs. condom scenario prevalence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4181F"/>
                </a:solidFill>
                <a:latin typeface="Nunito Sans"/>
              </a:rPr>
              <a:t>The model is calibrated and behaves like the published sIC model before we add a vaccine.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Baseline reproduces the textbook: growth to a high endemic plateau.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Female prevalence (</a:t>
            </a:r>
            <a:r>
              <a:rPr sz="1500" b="1">
                <a:solidFill>
                  <a:srgbClr val="14181F"/>
                </a:solidFill>
                <a:latin typeface="Nunito Sans"/>
              </a:rPr>
              <a:t>0.77</a:t>
            </a:r>
            <a:r>
              <a:rPr sz="1500" b="0">
                <a:solidFill>
                  <a:srgbClr val="5A6473"/>
                </a:solidFill>
                <a:latin typeface="Nunito Sans"/>
              </a:rPr>
              <a:t>) above male (</a:t>
            </a:r>
            <a:r>
              <a:rPr sz="1500" b="1">
                <a:solidFill>
                  <a:srgbClr val="14181F"/>
                </a:solidFill>
                <a:latin typeface="Nunito Sans"/>
              </a:rPr>
              <a:t>0.62</a:t>
            </a:r>
            <a:r>
              <a:rPr sz="1500" b="0">
                <a:solidFill>
                  <a:srgbClr val="5A6473"/>
                </a:solidFill>
                <a:latin typeface="Nunito Sans"/>
              </a:rPr>
              <a:t>).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2E8B57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Condom scenario (halving both β) sharply suppresses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M O D E L   E X T E N S I O N   ·   P R O T E C T E D   C O M P A R T M E N T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A “take”-with-waning vaccine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a_protected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36123"/>
            <a:ext cx="5425135" cy="33550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Protected fraction → waning ceiling 0.87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14181F"/>
                </a:solidFill>
                <a:latin typeface="Nunito Sans"/>
              </a:rPr>
              <a:t>Protected people stay in the partner pool, so vaccination dilutes the infected fraction — this is what produces herd immunity.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00" b="0">
                <a:solidFill>
                  <a:srgbClr val="5A6473"/>
                </a:solidFill>
                <a:latin typeface="Nunito Sans"/>
              </a:rPr>
              <a:t>Add protected adults </a:t>
            </a:r>
            <a:r>
              <a:rPr sz="1400" b="1">
                <a:solidFill>
                  <a:srgbClr val="14181F"/>
                </a:solidFill>
                <a:latin typeface="Nunito Sans"/>
              </a:rPr>
              <a:t>Pf2, Pm2</a:t>
            </a:r>
            <a:r>
              <a:rPr sz="1400" b="0">
                <a:solidFill>
                  <a:srgbClr val="5A6473"/>
                </a:solidFill>
                <a:latin typeface="Nunito Sans"/>
              </a:rPr>
              <a:t>; vaccinate susceptible adults at </a:t>
            </a:r>
            <a:r>
              <a:rPr sz="1400" b="1">
                <a:solidFill>
                  <a:srgbClr val="14181F"/>
                </a:solidFill>
                <a:latin typeface="Nunito Sans"/>
              </a:rPr>
              <a:t>ν = 0.65/yr</a:t>
            </a:r>
            <a:r>
              <a:rPr sz="1400" b="0">
                <a:solidFill>
                  <a:srgbClr val="5A6473"/>
                </a:solidFill>
                <a:latin typeface="Nunito Sans"/>
              </a:rPr>
              <a:t> (≈ Garnett 2002 “65% coverage”).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00" b="0">
                <a:solidFill>
                  <a:srgbClr val="5A6473"/>
                </a:solidFill>
                <a:latin typeface="Nunito Sans"/>
              </a:rPr>
              <a:t>Protection wanes at </a:t>
            </a:r>
            <a:r>
              <a:rPr sz="1400" b="1">
                <a:solidFill>
                  <a:srgbClr val="14181F"/>
                </a:solidFill>
                <a:latin typeface="Nunito Sans"/>
              </a:rPr>
              <a:t>l = 0.1/yr</a:t>
            </a:r>
            <a:r>
              <a:rPr sz="1400" b="0">
                <a:solidFill>
                  <a:srgbClr val="5A6473"/>
                </a:solidFill>
                <a:latin typeface="Nunito Sans"/>
              </a:rPr>
              <a:t> (≈ 10-year mean).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00" b="0">
                <a:solidFill>
                  <a:srgbClr val="5A6473"/>
                </a:solidFill>
                <a:latin typeface="Nunito Sans"/>
              </a:rPr>
              <a:t>Ceiling: at most </a:t>
            </a:r>
            <a:r>
              <a:rPr sz="1400" b="1">
                <a:solidFill>
                  <a:srgbClr val="14181F"/>
                </a:solidFill>
                <a:latin typeface="Nunito Sans"/>
              </a:rPr>
              <a:t>ν/(ν+l) = 0.87</a:t>
            </a:r>
            <a:r>
              <a:rPr sz="1400" b="0">
                <a:solidFill>
                  <a:srgbClr val="5A6473"/>
                </a:solidFill>
                <a:latin typeface="Nunito Sans"/>
              </a:rPr>
              <a:t> of adults are ever protected.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00" b="0">
                <a:solidFill>
                  <a:srgbClr val="5A6473"/>
                </a:solidFill>
                <a:latin typeface="Nunito Sans"/>
              </a:rPr>
              <a:t>Cost tracked via </a:t>
            </a:r>
            <a:r>
              <a:rPr sz="1400" b="1">
                <a:solidFill>
                  <a:srgbClr val="14181F"/>
                </a:solidFill>
                <a:latin typeface="Nunito Sans"/>
              </a:rPr>
              <a:t>dV/dt = ν(Sf2+Sm2)</a:t>
            </a:r>
            <a:r>
              <a:rPr sz="1400" b="0">
                <a:solidFill>
                  <a:srgbClr val="5A6473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Q ( A )   ·   P E A K   &amp;   D E C L I N 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4181F"/>
                </a:solidFill>
                <a:latin typeface="Archivo"/>
              </a:rPr>
              <a:t>Does the vaccine make it peak then decline?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a_inc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36123"/>
            <a:ext cx="5425135" cy="33550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HIV incidence: baseline peak vs. vaccinated decline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A N S W E R</a:t>
            </a:r>
          </a:p>
          <a:p>
            <a:pPr>
              <a:lnSpc>
                <a:spcPct val="118000"/>
              </a:lnSpc>
            </a:pPr>
            <a:r>
              <a:rPr sz="1500" b="1">
                <a:solidFill>
                  <a:srgbClr val="14181F"/>
                </a:solidFill>
                <a:latin typeface="Nunito Sans"/>
              </a:rPr>
              <a:t>Yes — vaccination turns sustained growth into immediate decline.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Under ν = 0.65, the effective reproduction number drops to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R_eff ≈ 0.31 &lt; 1</a:t>
            </a:r>
            <a:r>
              <a:rPr sz="1450" b="0">
                <a:solidFill>
                  <a:srgbClr val="5A6473"/>
                </a:solidFill>
                <a:latin typeface="Nunito Sans"/>
              </a:rPr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HIV incidence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declines from the very start</a:t>
            </a:r>
            <a:r>
              <a:rPr sz="1450" b="0">
                <a:solidFill>
                  <a:srgbClr val="5A6473"/>
                </a:solidFill>
                <a:latin typeface="Nunito Sans"/>
              </a:rPr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8A94A6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The untreated baseline instead peaks at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791 new infections/yr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around year 48.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Q ( B )   ·   P R O G R A M   C O S 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What does it cost?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09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b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271" y="2116836"/>
            <a:ext cx="3787840" cy="3593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Cumulative cost &amp; cost per infection averted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14181F"/>
                </a:solidFill>
                <a:latin typeface="Nunito Sans"/>
              </a:rPr>
              <a:t>Cost-per-infection-averted is the transferable metric — absolute $ scale with this small synthetic population.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At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$10 per vaccination</a:t>
            </a:r>
            <a:r>
              <a:rPr sz="1450" b="0">
                <a:solidFill>
                  <a:srgbClr val="5A6473"/>
                </a:solidFill>
                <a:latin typeface="Nunito Sans"/>
              </a:rPr>
              <a:t>: cumulative cost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≈ $162k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by year 30 (≈ $4,070/yr at steady state).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About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$102 per infection averted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at 30 years.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0">
                <a:solidFill>
                  <a:srgbClr val="5A6473"/>
                </a:solidFill>
                <a:latin typeface="Nunito Sans"/>
              </a:rPr>
              <a:t>Within the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$110–390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range of the Imperial-College / Stover analyses.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Q ( C )   ·   T H E   C R I T I C A L   R A T 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4181F"/>
                </a:solidFill>
                <a:latin typeface="Archivo"/>
              </a:rPr>
              <a:t>Optimum rate — the elimination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c_prevalence_vs_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18277"/>
            <a:ext cx="5425135" cy="33907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Steady-state prevalence vs. vaccination rate 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5138928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E5484D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A critical rate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νc ≈ 0.37/yr</a:t>
            </a:r>
            <a:r>
              <a:rPr sz="1500" b="0">
                <a:solidFill>
                  <a:srgbClr val="5A6473"/>
                </a:solidFill>
                <a:latin typeface="Nunito Sans"/>
              </a:rPr>
              <a:t> drives the epidemic to elimination above it.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Matches herd immunity: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νc = l·pc/(1−pc)</a:t>
            </a:r>
            <a:r>
              <a:rPr sz="1500" b="0">
                <a:solidFill>
                  <a:srgbClr val="5A6473"/>
                </a:solidFill>
                <a:latin typeface="Nunito Sans"/>
              </a:rPr>
              <a:t> with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pc = 1 − 1/R₀ ≈ 0.574</a:t>
            </a:r>
            <a:r>
              <a:rPr sz="1500" b="0">
                <a:solidFill>
                  <a:srgbClr val="5A6473"/>
                </a:solidFill>
                <a:latin typeface="Nunito Sans"/>
              </a:rPr>
              <a:t>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The standard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ν = 0.65</a:t>
            </a:r>
            <a:r>
              <a:rPr sz="1500" b="0">
                <a:solidFill>
                  <a:srgbClr val="5A6473"/>
                </a:solidFill>
                <a:latin typeface="Nunito Sans"/>
              </a:rPr>
              <a:t> sits comfortably above νc.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Q ( C )   ·   T W O   O P T I M U M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4181F"/>
                </a:solidFill>
                <a:latin typeface="Archivo"/>
              </a:rPr>
              <a:t>Optimum rate — best value vs. elimination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c_cost_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218277"/>
            <a:ext cx="5425135" cy="33907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Cost-effectiveness — the value knee at ν ≈ 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550" b="1">
                <a:solidFill>
                  <a:srgbClr val="14181F"/>
                </a:solidFill>
                <a:latin typeface="Nunito Sans"/>
              </a:rPr>
              <a:t>“Control the epidemic” and “best value for money” are not the same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E5484D"/>
                </a:solidFill>
                <a:latin typeface="Nunito Sans"/>
              </a:rPr>
              <a:t>▪ 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Epidemiological optimum: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eliminate the epidemic, ν ≥ νc.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Cost-effective optimum: </a:t>
            </a:r>
            <a:r>
              <a:rPr sz="1500" b="0">
                <a:solidFill>
                  <a:srgbClr val="5A6473"/>
                </a:solidFill>
                <a:latin typeface="Nunito Sans"/>
              </a:rPr>
              <a:t>best value — a diminishing-returns knee near </a:t>
            </a:r>
            <a:r>
              <a:rPr sz="1500" b="1">
                <a:solidFill>
                  <a:srgbClr val="14181F"/>
                </a:solidFill>
                <a:latin typeface="Nunito Sans"/>
              </a:rPr>
              <a:t>ν ≈ 0.18/yr</a:t>
            </a:r>
            <a:r>
              <a:rPr sz="1500" b="0">
                <a:solidFill>
                  <a:srgbClr val="5A6473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Q ( D )   ·   V A C C I N A T I O N   V S .   C O N D O M 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000" b="1" i="0">
                <a:solidFill>
                  <a:srgbClr val="14181F"/>
                </a:solidFill>
                <a:latin typeface="Archivo"/>
              </a:rPr>
              <a:t>Which controls it better?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7608" y="1988820"/>
            <a:ext cx="568116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d_averted_and_r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725269"/>
            <a:ext cx="5425135" cy="2376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35624" y="5838444"/>
            <a:ext cx="54251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473"/>
                </a:solidFill>
                <a:latin typeface="Archivo"/>
              </a:rPr>
              <a:t>Infections averted &amp; R_eff by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47088"/>
            <a:ext cx="38100" cy="106070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847088"/>
            <a:ext cx="4992624" cy="1060704"/>
          </a:xfrm>
          <a:prstGeom prst="rect">
            <a:avLst/>
          </a:prstGeom>
          <a:noFill/>
        </p:spPr>
        <p:txBody>
          <a:bodyPr wrap="square" anchor="ctr" lIns="2540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Archivo"/>
              </a:rPr>
              <a:t>K E Y   M E S S A G E</a:t>
            </a:r>
          </a:p>
          <a:p>
            <a:pPr>
              <a:lnSpc>
                <a:spcPct val="118000"/>
              </a:lnSpc>
            </a:pPr>
            <a:r>
              <a:rPr sz="1450" b="1">
                <a:solidFill>
                  <a:srgbClr val="14181F"/>
                </a:solidFill>
                <a:latin typeface="Nunito Sans"/>
              </a:rPr>
              <a:t>Essentially a tie on epidemiological outcome; they differ on cost basis and the vaccine's waning ceiling — no single winner is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5138928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Vaccination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(ν=0.65) → R_eff=0.31, averts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≈31,224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infections, explicit cost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≈$349k</a:t>
            </a:r>
            <a:r>
              <a:rPr sz="1450" b="0">
                <a:solidFill>
                  <a:srgbClr val="5A6473"/>
                </a:solidFill>
                <a:latin typeface="Nunito Sans"/>
              </a:rPr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250" b="1">
                <a:solidFill>
                  <a:srgbClr val="2E8B57"/>
                </a:solidFill>
                <a:latin typeface="Nunito Sans"/>
              </a:rPr>
              <a:t>▪ 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Condoms</a:t>
            </a:r>
            <a:r>
              <a:rPr sz="1450" b="0">
                <a:solidFill>
                  <a:srgbClr val="5A6473"/>
                </a:solidFill>
                <a:latin typeface="Nunito Sans"/>
              </a:rPr>
              <a:t> (halving β) → R₀=1.17 (just above threshold), averts </a:t>
            </a:r>
            <a:r>
              <a:rPr sz="1450" b="1">
                <a:solidFill>
                  <a:srgbClr val="14181F"/>
                </a:solidFill>
                <a:latin typeface="Nunito Sans"/>
              </a:rPr>
              <a:t>≈30,857</a:t>
            </a:r>
            <a:r>
              <a:rPr sz="1450" b="0">
                <a:solidFill>
                  <a:srgbClr val="5A6473"/>
                </a:solidFill>
                <a:latin typeface="Nunito Sans"/>
              </a:rPr>
              <a:t>, no priced cost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S Y N T H E S I S   ·   W H A T   W E   L E A R N E 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>
                <a:solidFill>
                  <a:srgbClr val="14181F"/>
                </a:solidFill>
                <a:latin typeface="Archivo"/>
              </a:rPr>
              <a:t>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7989"/>
            <a:ext cx="566928" cy="56692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2057400"/>
            <a:ext cx="10326319" cy="8481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5A6473"/>
                </a:solidFill>
                <a:latin typeface="Nunito Sans"/>
              </a:rPr>
              <a:t>A waning vaccine at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ν=0.65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 drives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R_eff &lt; 1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 and makes the epidemic decline.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02127"/>
            <a:ext cx="566928" cy="56692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3161538"/>
            <a:ext cx="10326319" cy="8481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5A6473"/>
                </a:solidFill>
                <a:latin typeface="Nunito Sans"/>
              </a:rPr>
              <a:t>It is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cost-effective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 — about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$102 per infection averted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06265"/>
            <a:ext cx="566928" cy="56692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4265676"/>
            <a:ext cx="10326319" cy="8481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5A6473"/>
                </a:solidFill>
                <a:latin typeface="Nunito Sans"/>
              </a:rPr>
              <a:t>It is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comparable to condom promotion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 on epidemiological outcome.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10403"/>
            <a:ext cx="566928" cy="56692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5369814"/>
            <a:ext cx="10326319" cy="8481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5A6473"/>
                </a:solidFill>
                <a:latin typeface="Nunito Sans"/>
              </a:rPr>
              <a:t>Conclusions hold </a:t>
            </a:r>
            <a:r>
              <a:rPr sz="1800" b="1" i="0">
                <a:solidFill>
                  <a:srgbClr val="14181F"/>
                </a:solidFill>
                <a:latin typeface="Nunito Sans"/>
              </a:rPr>
              <a:t>above the herd-immunity threshold</a:t>
            </a:r>
            <a:r>
              <a:rPr sz="1800" b="0" i="0">
                <a:solidFill>
                  <a:srgbClr val="5A6473"/>
                </a:solidFill>
                <a:latin typeface="Nunito Sans"/>
              </a:rPr>
              <a:t> νc ≈ 0.37/yr.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H O N E S T Y   ·   W H A T   T O   D I S T R U S 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858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>
                <a:solidFill>
                  <a:srgbClr val="14181F"/>
                </a:solidFill>
                <a:latin typeface="Archivo"/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45936"/>
            <a:ext cx="11185855" cy="9525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473"/>
                </a:solidFill>
                <a:latin typeface="Archivo"/>
              </a:rPr>
              <a:t>HIV Vaccination on the sIC AIDS Model  ·  李傳漢 Chuan-Han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A6473"/>
                </a:solidFill>
                <a:latin typeface="Archivo"/>
              </a:rP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 b="1">
                <a:solidFill>
                  <a:srgbClr val="8A94A6"/>
                </a:solidFill>
                <a:latin typeface="Nunito Sans"/>
              </a:rPr>
              <a:t>▪  </a:t>
            </a:r>
            <a:r>
              <a:rPr sz="1800" b="1">
                <a:solidFill>
                  <a:srgbClr val="14181F"/>
                </a:solidFill>
                <a:latin typeface="Nunito Sans"/>
              </a:rPr>
              <a:t>γ recalibrated</a:t>
            </a:r>
            <a:r>
              <a:rPr sz="1800" b="0">
                <a:solidFill>
                  <a:srgbClr val="5A6473"/>
                </a:solidFill>
                <a:latin typeface="Nunito Sans"/>
              </a:rPr>
              <a:t> from the implausible literal textbook value.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 b="1">
                <a:solidFill>
                  <a:srgbClr val="8A94A6"/>
                </a:solidFill>
                <a:latin typeface="Nunito Sans"/>
              </a:rPr>
              <a:t>▪  </a:t>
            </a:r>
            <a:r>
              <a:rPr sz="1800" b="0">
                <a:solidFill>
                  <a:srgbClr val="5A6473"/>
                </a:solidFill>
                <a:latin typeface="Nunito Sans"/>
              </a:rPr>
              <a:t>Results are </a:t>
            </a:r>
            <a:r>
              <a:rPr sz="1800" b="1">
                <a:solidFill>
                  <a:srgbClr val="14181F"/>
                </a:solidFill>
                <a:latin typeface="Nunito Sans"/>
              </a:rPr>
              <a:t>sensitive near the R₀ threshold</a:t>
            </a:r>
            <a:r>
              <a:rPr sz="1800" b="0">
                <a:solidFill>
                  <a:srgbClr val="5A6473"/>
                </a:solidFill>
                <a:latin typeface="Nunito Sans"/>
              </a:rPr>
              <a:t>, so condoms vs. vaccine is a close call.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800" b="1">
                <a:solidFill>
                  <a:srgbClr val="14181F"/>
                </a:solidFill>
                <a:latin typeface="Nunito Sans"/>
              </a:rPr>
              <a:t>Small synthetic population</a:t>
            </a:r>
            <a:r>
              <a:rPr sz="1800" b="0">
                <a:solidFill>
                  <a:srgbClr val="5A6473"/>
                </a:solidFill>
                <a:latin typeface="Nunito Sans"/>
              </a:rPr>
              <a:t> — use cost-per-infection-averted, not absolute $.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 b="1">
                <a:solidFill>
                  <a:srgbClr val="1F7A8C"/>
                </a:solidFill>
                <a:latin typeface="Nunito Sans"/>
              </a:rPr>
              <a:t>▪  </a:t>
            </a:r>
            <a:r>
              <a:rPr sz="1800" b="0">
                <a:solidFill>
                  <a:srgbClr val="5A6473"/>
                </a:solidFill>
                <a:latin typeface="Nunito Sans"/>
              </a:rPr>
              <a:t>A </a:t>
            </a:r>
            <a:r>
              <a:rPr sz="1800" b="1">
                <a:solidFill>
                  <a:srgbClr val="14181F"/>
                </a:solidFill>
                <a:latin typeface="Nunito Sans"/>
              </a:rPr>
              <a:t>single operating point</a:t>
            </a:r>
            <a:r>
              <a:rPr sz="1800" b="0">
                <a:solidFill>
                  <a:srgbClr val="5A6473"/>
                </a:solidFill>
                <a:latin typeface="Nunito Sans"/>
              </a:rPr>
              <a:t> was analysed, not a full sweep of every parameter.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 b="1">
                <a:solidFill>
                  <a:srgbClr val="2E8B57"/>
                </a:solidFill>
                <a:latin typeface="Nunito Sans"/>
              </a:rPr>
              <a:t>▪  </a:t>
            </a:r>
            <a:r>
              <a:rPr sz="1800" b="0">
                <a:solidFill>
                  <a:srgbClr val="5A6473"/>
                </a:solidFill>
                <a:latin typeface="Nunito Sans"/>
              </a:rPr>
              <a:t>The herd-immunity result </a:t>
            </a:r>
            <a:r>
              <a:rPr sz="1800" b="1">
                <a:solidFill>
                  <a:srgbClr val="14181F"/>
                </a:solidFill>
                <a:latin typeface="Nunito Sans"/>
              </a:rPr>
              <a:t>depends on keeping protected people in the partner pool</a:t>
            </a:r>
            <a:r>
              <a:rPr sz="1800" b="0">
                <a:solidFill>
                  <a:srgbClr val="5A6473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74175" y="3611880"/>
            <a:ext cx="2834640" cy="3108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80000"/>
              </a:lnSpc>
            </a:pPr>
            <a:r>
              <a:rPr sz="20000" b="1" i="0">
                <a:solidFill>
                  <a:srgbClr val="F8ECEC"/>
                </a:solidFill>
                <a:latin typeface="Archivo"/>
              </a:rP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310896" cy="25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02920"/>
            <a:ext cx="107652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5484D"/>
                </a:solidFill>
                <a:latin typeface="Archivo"/>
              </a:rPr>
              <a:t>P A R T   2   ·   T H E   E N 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85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600" b="1" i="0">
                <a:solidFill>
                  <a:srgbClr val="14181F"/>
                </a:solidFill>
                <a:latin typeface="Archivo"/>
              </a:rPr>
              <a:t>Thank you.
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69080"/>
            <a:ext cx="6949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069080"/>
            <a:ext cx="38100" cy="9144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06908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14181F"/>
                </a:solidFill>
                <a:latin typeface="Archivo"/>
              </a:rPr>
              <a:t>Recap: </a:t>
            </a:r>
            <a:r>
              <a:rPr sz="1700" b="1">
                <a:solidFill>
                  <a:srgbClr val="1F7A8C"/>
                </a:solidFill>
                <a:latin typeface="Archivo"/>
              </a:rPr>
              <a:t>R₀ ≈ 2.35</a:t>
            </a:r>
            <a:r>
              <a:rPr sz="1700" b="1">
                <a:solidFill>
                  <a:srgbClr val="14181F"/>
                </a:solidFill>
                <a:latin typeface="Archivo"/>
              </a:rPr>
              <a:t> → with </a:t>
            </a:r>
            <a:r>
              <a:rPr sz="1700" b="1">
                <a:solidFill>
                  <a:srgbClr val="1F7A8C"/>
                </a:solidFill>
                <a:latin typeface="Archivo"/>
              </a:rPr>
              <a:t>ν = 0.65</a:t>
            </a:r>
            <a:r>
              <a:rPr sz="1700" b="1">
                <a:solidFill>
                  <a:srgbClr val="14181F"/>
                </a:solidFill>
                <a:latin typeface="Archivo"/>
              </a:rPr>
              <a:t>, </a:t>
            </a:r>
            <a:r>
              <a:rPr sz="1700" b="1">
                <a:solidFill>
                  <a:srgbClr val="1F7A8C"/>
                </a:solidFill>
                <a:latin typeface="Archivo"/>
              </a:rPr>
              <a:t>R_eff ≈ 0.31 &lt; 1</a:t>
            </a:r>
            <a:r>
              <a:rPr sz="1700" b="1">
                <a:solidFill>
                  <a:srgbClr val="14181F"/>
                </a:solidFill>
                <a:latin typeface="Archivo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11185855" cy="12700"/>
          </a:xfrm>
          <a:prstGeom prst="rect">
            <a:avLst/>
          </a:prstGeom>
          <a:solidFill>
            <a:srgbClr val="E4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78815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473"/>
                </a:solidFill>
                <a:latin typeface="Nunito Sans"/>
              </a:rPr>
              <a:t>李傳漢 (Chuan-Han Li) · B11611027  —  BME5113 Biological Systems Modeling &amp; Analysis · Term Project, Part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